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(45 s)</a:t>
            </a:r>
          </a:p>
          <a:p>
            <a:r>
              <a:t>I built the front-end with React and Vite. The whole site is one page: App.jsx keeps the state and decides which screen to show, and every part of the interface is its own component: the header, the hero with the search bar, the filters, the job cards, the forms, the employer space and the admin panel. 19 components in total.</a:t>
            </a:r>
          </a:p>
          <a:p>
            <a:r>
              <a:t>We didn't use a router: a single 'page' variable decides what's displayed, and I save it in localStorage, so if you refresh you stay on the same page.</a:t>
            </a:r>
          </a:p>
          <a:p>
            <a:r>
              <a:t>And no UI library: all the CSS is hand-made, with our own colour variables from the visual identity, and it's responsive down to phone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(45 s)</a:t>
            </a:r>
          </a:p>
          <a:p>
            <a:r>
              <a:t>The same site gives four different experiences depending on who you are.</a:t>
            </a:r>
          </a:p>
          <a:p>
            <a:r>
              <a:t>A visitor can browse, search, open an ad with 'Learn more' and apply without creating an account.</a:t>
            </a:r>
          </a:p>
          <a:p>
            <a:r>
              <a:t>A logged-in user also gets favourites, a 'My applications' page, and the Apply button turns into 'Applied' once they've applied.</a:t>
            </a:r>
          </a:p>
          <a:p>
            <a:r>
              <a:t>An employer manages their company and its ads, and an admin has a full dashboard with tables for jobs, companies, applications and people, with pagination.</a:t>
            </a:r>
          </a:p>
          <a:p>
            <a:r>
              <a:t>When you log in, the front-end reads your role and sends you straight to the right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(40 s)</a:t>
            </a:r>
          </a:p>
          <a:p>
            <a:r>
              <a:t>Search is instant. The front-end loads the job list once from the API, then filters it directly in the browser, so results update while you type, without reloading.</a:t>
            </a:r>
          </a:p>
          <a:p>
            <a:r>
              <a:t>Three filters are combined: a keyword in the title, a city or 'remote', and the contract type. The contract chips aren't hard-coded: they're built from the data, so if an employer adds a new type, it appears automatically.</a:t>
            </a:r>
          </a:p>
          <a:p>
            <a:r>
              <a:t>I also handled every state: loading, an error if the API is down, and a message when nothing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(45 s)</a:t>
            </a:r>
          </a:p>
          <a:p>
            <a:r>
              <a:t>Every screen talks to Kayne's API with fetch. The API address lives in a .env file, so we change it in one place.</a:t>
            </a:r>
          </a:p>
          <a:p>
            <a:r>
              <a:t>When you log in, I store the token in localStorage and send it in the Authorization header of every protected request, like here when you add a favourite: same URL, POST to add, DELETE to remove.</a:t>
            </a:r>
          </a:p>
          <a:p>
            <a:r>
              <a:t>When you refresh the page, I call /auth/me to check the token is still valid and restore the session; if it has expired, you're logged out cleanly.</a:t>
            </a:r>
          </a:p>
          <a:p>
            <a:r>
              <a:t>And the interface only changes once the API answers OK, so what you see always matches the database.</a:t>
            </a:r>
          </a:p>
          <a:p>
            <a:r>
              <a:t>Now Kayne will show you what happens on the other side of these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first if you have time (about 1 min): visitor searches and applies → log in as admin@chefs.dev → admin dashboard shows the application.</a:t>
            </a:r>
          </a:p>
          <a:p>
            <a:r>
              <a:t>Then: Thank you! Do you have any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D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C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4301A"/>
                </a:solidFill>
                <a:latin typeface="Poppins"/>
              </a:rPr>
              <a:t>FRONT-END · LILOU TIBBAUT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B120A"/>
                </a:solidFill>
                <a:latin typeface="Poppins"/>
              </a:rPr>
              <a:t>React + Vite: one page, many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>
                <a:solidFill>
                  <a:srgbClr val="2B120A"/>
                </a:solidFill>
                <a:latin typeface="Poppins"/>
              </a:rPr>
              <a:t>1 /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B43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7EDC8"/>
                </a:solidFill>
                <a:latin typeface="Poppins"/>
              </a:rPr>
              <a:t>App.jsx</a:t>
            </a:r>
          </a:p>
          <a:p>
            <a:pPr algn="ctr"/>
            <a:r>
              <a:rPr sz="1240">
                <a:solidFill>
                  <a:srgbClr val="F7EDC8"/>
                </a:solidFill>
                <a:latin typeface="Poppins"/>
              </a:rPr>
              <a:t>state + navigation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82880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BC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120A"/>
                </a:solidFill>
                <a:latin typeface="Poppins"/>
              </a:rPr>
              <a:t>Header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BC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120A"/>
                </a:solidFill>
                <a:latin typeface="Poppins"/>
              </a:rPr>
              <a:t>Hero +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96265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BC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120A"/>
                </a:solidFill>
                <a:latin typeface="Poppins"/>
              </a:rPr>
              <a:t>Filters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352958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BC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120A"/>
                </a:solidFill>
                <a:latin typeface="Poppins"/>
              </a:rPr>
              <a:t>JobCard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120A"/>
                </a:solidFill>
                <a:latin typeface="Poppins"/>
              </a:rPr>
              <a:t>Login / Register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395728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120A"/>
                </a:solidFill>
                <a:latin typeface="Poppins"/>
              </a:rPr>
              <a:t>Profile · My applications · Favourites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962656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120A"/>
                </a:solidFill>
                <a:latin typeface="Poppins"/>
              </a:rPr>
              <a:t>Employer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529584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120A"/>
                </a:solidFill>
                <a:latin typeface="Poppins"/>
              </a:rPr>
              <a:t>Admin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46120" y="2468880"/>
            <a:ext cx="640080" cy="0"/>
          </a:xfrm>
          <a:prstGeom prst="line">
            <a:avLst/>
          </a:prstGeom>
          <a:ln w="31750">
            <a:solidFill>
              <a:srgbClr val="2B12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31920" y="420624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4301A"/>
                </a:solidFill>
                <a:latin typeface="Poppins"/>
              </a:rPr>
              <a:t>19 React components · 934 lines of CSS · no UI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2B120A"/>
                </a:solidFill>
                <a:latin typeface="Poppins"/>
              </a:rPr>
              <a:t>No router: </a:t>
            </a:r>
            <a:r>
              <a:rPr sz="1800" b="0">
                <a:solidFill>
                  <a:srgbClr val="2B120A"/>
                </a:solidFill>
                <a:latin typeface="Poppins"/>
              </a:rPr>
              <a:t>a single </a:t>
            </a:r>
            <a:r>
              <a:rPr sz="1800" b="1">
                <a:solidFill>
                  <a:srgbClr val="2B120A"/>
                </a:solidFill>
                <a:latin typeface="Roboto Mono"/>
              </a:rPr>
              <a:t>page</a:t>
            </a:r>
            <a:r>
              <a:rPr sz="1800" b="0">
                <a:solidFill>
                  <a:srgbClr val="2B120A"/>
                </a:solidFill>
                <a:latin typeface="Poppins"/>
              </a:rPr>
              <a:t> state decides which screen to show, saved in localStorage so a refresh keeps you where you were.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2B120A"/>
                </a:solidFill>
                <a:latin typeface="Poppins"/>
              </a:rPr>
              <a:t>Hand-made design: </a:t>
            </a:r>
            <a:r>
              <a:rPr sz="1800" b="0">
                <a:solidFill>
                  <a:srgbClr val="2B120A"/>
                </a:solidFill>
                <a:latin typeface="Poppins"/>
              </a:rPr>
              <a:t>our own CSS variables (sauce, cream, tile…) and 4 responsive breakpoints, down to phone size.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D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C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4301A"/>
                </a:solidFill>
                <a:latin typeface="Poppins"/>
              </a:rPr>
              <a:t>FRONT-END ·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B120A"/>
                </a:solidFill>
                <a:latin typeface="Poppins"/>
              </a:rPr>
              <a:t>One site, four experiences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>
                <a:solidFill>
                  <a:srgbClr val="2B120A"/>
                </a:solidFill>
                <a:latin typeface="Poppins"/>
              </a:rPr>
              <a:t>2 /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60604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2240280" cy="640080"/>
          </a:xfrm>
          <a:prstGeom prst="roundRect">
            <a:avLst>
              <a:gd name="adj" fmla="val 12000"/>
            </a:avLst>
          </a:prstGeom>
          <a:solidFill>
            <a:srgbClr val="BC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B120A"/>
                </a:solidFill>
                <a:latin typeface="Poppins"/>
              </a:rPr>
              <a:t>Visitor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2103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120A"/>
                </a:solidFill>
                <a:latin typeface="Poppins"/>
              </a:rPr>
              <a:t>• Browse &amp; search jobs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120A"/>
                </a:solidFill>
                <a:latin typeface="Poppins"/>
              </a:rPr>
              <a:t>• Learn more on each ad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120A"/>
                </a:solidFill>
                <a:latin typeface="Poppins"/>
              </a:rPr>
              <a:t>• Apply without an account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965960"/>
            <a:ext cx="260604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03320" y="2148840"/>
            <a:ext cx="2240280" cy="640080"/>
          </a:xfrm>
          <a:prstGeom prst="roundRect">
            <a:avLst>
              <a:gd name="adj" fmla="val 12000"/>
            </a:avLst>
          </a:prstGeom>
          <a:solidFill>
            <a:srgbClr val="F7E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B120A"/>
                </a:solidFill>
                <a:latin typeface="Poppins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59" y="3017520"/>
            <a:ext cx="2103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120A"/>
                </a:solidFill>
                <a:latin typeface="Poppins"/>
              </a:rPr>
              <a:t>• Save favourites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120A"/>
                </a:solidFill>
                <a:latin typeface="Poppins"/>
              </a:rPr>
              <a:t>• My applications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120A"/>
                </a:solidFill>
                <a:latin typeface="Poppins"/>
              </a:rPr>
              <a:t>• APPLIED button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120A"/>
                </a:solidFill>
                <a:latin typeface="Poppins"/>
              </a:rPr>
              <a:t>• Edit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965960"/>
            <a:ext cx="260604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2148840"/>
            <a:ext cx="2240280" cy="640080"/>
          </a:xfrm>
          <a:prstGeom prst="roundRect">
            <a:avLst>
              <a:gd name="adj" fmla="val 12000"/>
            </a:avLst>
          </a:prstGeom>
          <a:solidFill>
            <a:srgbClr val="B43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7EDC8"/>
                </a:solidFill>
                <a:latin typeface="Poppins"/>
              </a:rPr>
              <a:t>Employer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3017520"/>
            <a:ext cx="2103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120A"/>
                </a:solidFill>
                <a:latin typeface="Poppins"/>
              </a:rPr>
              <a:t>• Company page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120A"/>
                </a:solidFill>
                <a:latin typeface="Poppins"/>
              </a:rPr>
              <a:t>• Create &amp; edit own ads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120A"/>
                </a:solidFill>
                <a:latin typeface="Poppins"/>
              </a:rPr>
              <a:t>• Read applications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965960"/>
            <a:ext cx="260604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81159" y="2148840"/>
            <a:ext cx="2240280" cy="640080"/>
          </a:xfrm>
          <a:prstGeom prst="roundRect">
            <a:avLst>
              <a:gd name="adj" fmla="val 12000"/>
            </a:avLst>
          </a:prstGeom>
          <a:solidFill>
            <a:srgbClr val="2B1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7EDC8"/>
                </a:solidFill>
                <a:latin typeface="Poppins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017520"/>
            <a:ext cx="2103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120A"/>
                </a:solidFill>
                <a:latin typeface="Poppins"/>
              </a:rPr>
              <a:t>• Dashboard with 4 tables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120A"/>
                </a:solidFill>
                <a:latin typeface="Poppins"/>
              </a:rPr>
              <a:t>• Jobs, companies, applications, people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120A"/>
                </a:solidFill>
                <a:latin typeface="Poppins"/>
              </a:rPr>
              <a:t>• Full CRUD + pagination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1018520" cy="777240"/>
          </a:xfrm>
          <a:prstGeom prst="roundRect">
            <a:avLst>
              <a:gd name="adj" fmla="val 12000"/>
            </a:avLst>
          </a:prstGeom>
          <a:solidFill>
            <a:srgbClr val="2B1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486400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7EDC8"/>
                </a:solidFill>
                <a:latin typeface="Poppins"/>
              </a:rPr>
              <a:t>After login, your role decides where you land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D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C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4301A"/>
                </a:solidFill>
                <a:latin typeface="Poppins"/>
              </a:rPr>
              <a:t>FRONT-END · SEARCH &amp;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B120A"/>
                </a:solidFill>
                <a:latin typeface="Poppins"/>
              </a:rPr>
              <a:t>Instant search, no reload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>
                <a:solidFill>
                  <a:srgbClr val="2B120A"/>
                </a:solidFill>
                <a:latin typeface="Poppins"/>
              </a:rPr>
              <a:t>3 /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6766560" cy="3566160"/>
          </a:xfrm>
          <a:prstGeom prst="roundRect">
            <a:avLst>
              <a:gd name="adj" fmla="val 5000"/>
            </a:avLst>
          </a:prstGeom>
          <a:solidFill>
            <a:srgbClr val="2B1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62179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7EDC8"/>
                </a:solidFill>
                <a:latin typeface="Roboto Mono"/>
              </a:rPr>
              <a:t>const filteredJobs = jobs.filter((job) =&gt; {</a:t>
            </a:r>
          </a:p>
          <a:p>
            <a:pPr algn="l"/>
            <a:r>
              <a:rPr sz="1600" b="0">
                <a:solidFill>
                  <a:srgbClr val="F2C14E"/>
                </a:solidFill>
                <a:latin typeface="Roboto Mono"/>
              </a:rPr>
              <a:t>  const matchSearch = job.title.toLowerCase()</a:t>
            </a:r>
          </a:p>
          <a:p>
            <a:pPr algn="l"/>
            <a:r>
              <a:rPr sz="1600" b="0">
                <a:solidFill>
                  <a:srgbClr val="F2C14E"/>
                </a:solidFill>
                <a:latin typeface="Roboto Mono"/>
              </a:rPr>
              <a:t>        .includes(search.toLowerCase());</a:t>
            </a:r>
          </a:p>
          <a:p>
            <a:pPr algn="l"/>
            <a:r>
              <a:rPr sz="1600" b="0">
                <a:solidFill>
                  <a:srgbClr val="F7EDC8"/>
                </a:solidFill>
                <a:latin typeface="Roboto Mono"/>
              </a:rPr>
              <a:t>  const matchLocation = where.toLowerCase()</a:t>
            </a:r>
          </a:p>
          <a:p>
            <a:pPr algn="l"/>
            <a:r>
              <a:rPr sz="1600" b="0">
                <a:solidFill>
                  <a:srgbClr val="F7EDC8"/>
                </a:solidFill>
                <a:latin typeface="Roboto Mono"/>
              </a:rPr>
              <a:t>        .includes(location.toLowerCase());</a:t>
            </a:r>
          </a:p>
          <a:p>
            <a:pPr algn="l"/>
            <a:r>
              <a:rPr sz="1600" b="0">
                <a:solidFill>
                  <a:srgbClr val="F7EDC8"/>
                </a:solidFill>
                <a:latin typeface="Roboto Mono"/>
              </a:rPr>
              <a:t>  const matchType = type === "All"</a:t>
            </a:r>
          </a:p>
          <a:p>
            <a:pPr algn="l"/>
            <a:r>
              <a:rPr sz="1600" b="0">
                <a:solidFill>
                  <a:srgbClr val="F7EDC8"/>
                </a:solidFill>
                <a:latin typeface="Roboto Mono"/>
              </a:rPr>
              <a:t>        || job.contract_type === type;</a:t>
            </a:r>
          </a:p>
          <a:p>
            <a:pPr algn="l"/>
            <a:r>
              <a:rPr sz="1600" b="0">
                <a:solidFill>
                  <a:srgbClr val="F7EDC8"/>
                </a:solidFill>
                <a:latin typeface="Roboto Mono"/>
              </a:rPr>
              <a:t>  return matchSearch &amp;&amp; matchLocation &amp;&amp; matchType;</a:t>
            </a:r>
          </a:p>
          <a:p>
            <a:pPr algn="l"/>
            <a:r>
              <a:rPr sz="1600" b="0">
                <a:solidFill>
                  <a:srgbClr val="F7EDC8"/>
                </a:solidFill>
                <a:latin typeface="Roboto Mono"/>
              </a:rPr>
              <a:t>});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920240"/>
            <a:ext cx="38404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120A"/>
                </a:solidFill>
                <a:latin typeface="Poppins"/>
              </a:rPr>
              <a:t>1 request, </a:t>
            </a:r>
            <a:r>
              <a:rPr sz="1600" b="0">
                <a:solidFill>
                  <a:srgbClr val="2B120A"/>
                </a:solidFill>
                <a:latin typeface="Poppins"/>
              </a:rPr>
              <a:t>then everything is filtered in the browser: results update as you type.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120A"/>
                </a:solidFill>
                <a:latin typeface="Poppins"/>
              </a:rPr>
              <a:t>3 filters combined: </a:t>
            </a:r>
            <a:r>
              <a:rPr sz="1600" b="0">
                <a:solidFill>
                  <a:srgbClr val="2B120A"/>
                </a:solidFill>
                <a:latin typeface="Poppins"/>
              </a:rPr>
              <a:t>keyword, city or “remote”, contract type.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120A"/>
                </a:solidFill>
                <a:latin typeface="Poppins"/>
              </a:rPr>
              <a:t>Contract chips </a:t>
            </a:r>
            <a:r>
              <a:rPr sz="1600" b="0">
                <a:solidFill>
                  <a:srgbClr val="2B120A"/>
                </a:solidFill>
                <a:latin typeface="Poppins"/>
              </a:rPr>
              <a:t>are built from the data itself, so a new type appears automatically.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120A"/>
                </a:solidFill>
                <a:latin typeface="Poppins"/>
              </a:rPr>
              <a:t>Every state handled: </a:t>
            </a:r>
            <a:r>
              <a:rPr sz="1600" b="0">
                <a:solidFill>
                  <a:srgbClr val="2B120A"/>
                </a:solidFill>
                <a:latin typeface="Poppins"/>
              </a:rPr>
              <a:t>loading, error, “no jobs match”.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521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B43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7EDC8"/>
                </a:solidFill>
                <a:latin typeface="Poppins"/>
              </a:rPr>
              <a:t>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4208" y="58521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7E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2B120A"/>
                </a:solidFill>
                <a:latin typeface="Poppins"/>
              </a:rPr>
              <a:t>FULL-TIME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6976" y="58521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7E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2B120A"/>
                </a:solidFill>
                <a:latin typeface="Poppins"/>
              </a:rPr>
              <a:t>INTERNSHIP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46904" y="58521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7E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2B120A"/>
                </a:solidFill>
                <a:latin typeface="Poppins"/>
              </a:rPr>
              <a:t>PART-TIME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9672" y="58521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7E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2B120A"/>
                </a:solidFill>
                <a:latin typeface="Poppins"/>
              </a:rPr>
              <a:t>CLEAR 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D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C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4301A"/>
                </a:solidFill>
                <a:latin typeface="Poppins"/>
              </a:rPr>
              <a:t>FRONT-END · CONNECTING TO THE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B120A"/>
                </a:solidFill>
                <a:latin typeface="Poppins"/>
              </a:rPr>
              <a:t>How the front talks to the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502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>
                <a:solidFill>
                  <a:srgbClr val="2B120A"/>
                </a:solidFill>
                <a:latin typeface="Poppins"/>
              </a:rPr>
              <a:t>4 /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6400800" cy="3749039"/>
          </a:xfrm>
          <a:prstGeom prst="roundRect">
            <a:avLst>
              <a:gd name="adj" fmla="val 5000"/>
            </a:avLst>
          </a:prstGeom>
          <a:solidFill>
            <a:srgbClr val="2B1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5852160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7EDC8"/>
                </a:solidFill>
                <a:latin typeface="Roboto Mono"/>
              </a:rPr>
              <a:t>function toggleFavourite(jobId) {</a:t>
            </a:r>
          </a:p>
          <a:p>
            <a:pPr algn="l"/>
            <a:r>
              <a:rPr sz="1500" b="0">
                <a:solidFill>
                  <a:srgbClr val="F7EDC8"/>
                </a:solidFill>
                <a:latin typeface="Roboto Mono"/>
              </a:rPr>
              <a:t>  const isFavourite = favouriteIds.includes(jobId);</a:t>
            </a:r>
          </a:p>
          <a:p>
            <a:pPr algn="l"/>
            <a:r>
              <a:rPr sz="1500" b="0">
                <a:solidFill>
                  <a:srgbClr val="F7EDC8"/>
                </a:solidFill>
                <a:latin typeface="Roboto Mono"/>
              </a:rPr>
              <a:t>  fetch(API_URL + "/me/favourites/" + jobId, {</a:t>
            </a:r>
          </a:p>
          <a:p>
            <a:pPr algn="l"/>
            <a:r>
              <a:rPr sz="1500" b="0">
                <a:solidFill>
                  <a:srgbClr val="F2C14E"/>
                </a:solidFill>
                <a:latin typeface="Roboto Mono"/>
              </a:rPr>
              <a:t>    method: isFavourite ? "DELETE" : "POST",</a:t>
            </a:r>
          </a:p>
          <a:p>
            <a:pPr algn="l"/>
            <a:r>
              <a:rPr sz="1500" b="0">
                <a:solidFill>
                  <a:srgbClr val="F2C14E"/>
                </a:solidFill>
                <a:latin typeface="Roboto Mono"/>
              </a:rPr>
              <a:t>    headers: { Authorization: "Bearer " + user.token },</a:t>
            </a:r>
          </a:p>
          <a:p>
            <a:pPr algn="l"/>
            <a:r>
              <a:rPr sz="1500" b="0">
                <a:solidFill>
                  <a:srgbClr val="F7EDC8"/>
                </a:solidFill>
                <a:latin typeface="Roboto Mono"/>
              </a:rPr>
              <a:t>  }).then((res) =&gt; {</a:t>
            </a:r>
          </a:p>
          <a:p>
            <a:pPr algn="l"/>
            <a:r>
              <a:rPr sz="1500" b="0">
                <a:solidFill>
                  <a:srgbClr val="F7EDC8"/>
                </a:solidFill>
                <a:latin typeface="Roboto Mono"/>
              </a:rPr>
              <a:t>    if (!res.ok) return;</a:t>
            </a:r>
          </a:p>
          <a:p>
            <a:pPr algn="l"/>
            <a:r>
              <a:rPr sz="1500" b="0">
                <a:solidFill>
                  <a:srgbClr val="F7EDC8"/>
                </a:solidFill>
                <a:latin typeface="Roboto Mono"/>
              </a:rPr>
              <a:t>    // update the bookmark icon</a:t>
            </a:r>
          </a:p>
          <a:p>
            <a:pPr algn="l"/>
            <a:r>
              <a:rPr sz="1500" b="0">
                <a:solidFill>
                  <a:srgbClr val="F7EDC8"/>
                </a:solidFill>
                <a:latin typeface="Roboto Mono"/>
              </a:rPr>
              <a:t>  });</a:t>
            </a:r>
          </a:p>
          <a:p>
            <a:pPr algn="l"/>
            <a:r>
              <a:rPr sz="1500" b="0">
                <a:solidFill>
                  <a:srgbClr val="F7EDC8"/>
                </a:solidFill>
                <a:latin typeface="Roboto Mono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920240"/>
            <a:ext cx="42062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120A"/>
                </a:solidFill>
                <a:latin typeface="Poppins"/>
              </a:rPr>
              <a:t>API address in .env </a:t>
            </a:r>
            <a:r>
              <a:rPr sz="1600" b="0">
                <a:solidFill>
                  <a:srgbClr val="2B120A"/>
                </a:solidFill>
                <a:latin typeface="Poppins"/>
              </a:rPr>
              <a:t>(VITE_API_URL): one place to change it.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120A"/>
                </a:solidFill>
                <a:latin typeface="Poppins"/>
              </a:rPr>
              <a:t>Token saved in localStorage </a:t>
            </a:r>
            <a:r>
              <a:rPr sz="1600" b="0">
                <a:solidFill>
                  <a:srgbClr val="2B120A"/>
                </a:solidFill>
                <a:latin typeface="Poppins"/>
              </a:rPr>
              <a:t>and sent in every protected request.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120A"/>
                </a:solidFill>
                <a:latin typeface="Poppins"/>
              </a:rPr>
              <a:t>On refresh, </a:t>
            </a:r>
            <a:r>
              <a:rPr sz="1600" b="1">
                <a:solidFill>
                  <a:srgbClr val="2B120A"/>
                </a:solidFill>
                <a:latin typeface="Roboto Mono"/>
              </a:rPr>
              <a:t>/auth/me</a:t>
            </a:r>
            <a:r>
              <a:rPr sz="1600" b="0">
                <a:solidFill>
                  <a:srgbClr val="2B120A"/>
                </a:solidFill>
                <a:latin typeface="Poppins"/>
              </a:rPr>
              <a:t> checks the token and restores the session; if it's expired, you're logged out cleanly.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B120A"/>
                </a:solidFill>
                <a:latin typeface="Poppins"/>
              </a:rPr>
              <a:t>The UI only changes when the API says 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943600"/>
            <a:ext cx="11018520" cy="502920"/>
          </a:xfrm>
          <a:prstGeom prst="roundRect">
            <a:avLst>
              <a:gd name="adj" fmla="val 12000"/>
            </a:avLst>
          </a:prstGeom>
          <a:solidFill>
            <a:srgbClr val="BCD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120A"/>
                </a:solidFill>
                <a:latin typeface="Poppins"/>
              </a:rPr>
              <a:t>Handover → Kayne: what happens on the other side of these requests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3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7EDC8"/>
                </a:solidFill>
                <a:latin typeface="Poppins"/>
              </a:rPr>
              <a:t>CHEFS.DEV · LILOU TIBBAUT &amp; KAYNE SHAW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7EDC8"/>
                </a:solidFill>
                <a:latin typeface="Poppins"/>
              </a:rPr>
              <a:t>THANK YOU.</a:t>
            </a:r>
          </a:p>
          <a:p>
            <a:pPr algn="l"/>
            <a:r>
              <a:rPr sz="7200" b="1">
                <a:solidFill>
                  <a:srgbClr val="F7EDC8"/>
                </a:solidFill>
                <a:latin typeface="Poppins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7EDC8"/>
                </a:solidFill>
                <a:latin typeface="Poppins"/>
              </a:rPr>
              <a:t>React + Vite  ·  Flask REST API  ·  MySQL  ·  4 roles  ·  29 routes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