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r>
              <a:t>I built the backend: the MySQL database and the Flask API. The frontend never talks to the database directly. It sends HTTP requests to my API, my API runs the SQL, and sends back JSON.</a:t>
            </a:r>
          </a:p>
          <a:p>
            <a:r>
              <a:t>I chose Flask because it's small and in Python, which I already knew, so I could understand every line. And MySQL because our data is relational: companies, ads, people and applications are all linked.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a:t>
            </a:r>
          </a:p>
          <a:p>
            <a:r>
              <a:t>We have 5 tables. They're linked with foreign keys, so the database itself refuses bad data, like an application to an ad that doesn't exist.</a:t>
            </a:r>
          </a:p>
          <a:p>
            <a:r>
              <a:t>I also chose what happens on delete: if a company is deleted, its ads are deleted too, with ON DELETE CASCADE.</a:t>
            </a:r>
          </a:p>
          <a:p>
            <a:r>
              <a:t>For favourites, the primary key is the pair (person, ad), so the same person can't like the same ad twice. The database enforces it, not just the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a:t>
            </a:r>
          </a:p>
          <a:p>
            <a:r>
              <a:t>My API has 29 routes, and they all follow the same pattern: connect, run SQL, fetch, close, return JSON with a status code.</a:t>
            </a:r>
          </a:p>
          <a:p>
            <a:r>
              <a:t>I followed REST rules: the URL names the resource and the HTTP verb says the action. GET reads, POST creates, PUT replaces, PATCH changes one field, DELETE deletes.</a:t>
            </a:r>
          </a:p>
          <a:p>
            <a:r>
              <a:t>And the status codes match what happened: 201 when something is created, 400 for missing data, 404 when the id doesn't exist, 409 for a conflict like an email already used.</a:t>
            </a:r>
          </a:p>
          <a:p>
            <a:r>
              <a:t>One important detail is %s. I never put user data directly into SQL. PyMySQL inserts it safely, which protects against SQL injection.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a:t>
            </a:r>
          </a:p>
          <a:p>
            <a:r>
              <a:t>Passwords are never stored. Only a hash is saved, with Werkzeug. When you log in, the API gives you a signed token, a bit like a festival wristband. You send it with every request, and nobody can fake it because it's signed with a secret key that only the server knows.</a:t>
            </a:r>
          </a:p>
          <a:p>
            <a:r>
              <a:t>We have 3 roles, so I wrote 3 decorators: @login_required, @employer_required and @admin_required. You just put one above a route to protect it. 401 means 'log in first'; 403 means 'you're logged in, but not allowed.'</a:t>
            </a:r>
          </a:p>
          <a:p>
            <a:r>
              <a:t>Employers can only manage their own company's ads. Even if the frontend sends another company's id, my code ignores it and uses the company from the token. My rule was: never trust the frontend for permissions; trust the token.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a:t>
            </a:r>
          </a:p>
          <a:p>
            <a:r>
              <a:t>1. The frontend showed 'wrong email or password', but the real cause was a missing .env file in the frontend, so the API address was undefined. I tested the backend alone in Thunder Client. It worked, which proved the problem was on the other side. Lesson: test each part separately.</a:t>
            </a:r>
          </a:p>
          <a:p>
            <a:r>
              <a:t>2. At first, the frontend sent person_id in the request body, so anyone could change it. I changed the backend to take the person's id from the token instead.</a:t>
            </a:r>
          </a:p>
          <a:p>
            <a:r>
              <a:t>3. At sign-up, an employer can create a new company. I insert the company, get its id, then insert the person, with one commit at the end. That's a transaction: either both are saved, or neither, so we never get a company without an employer.</a:t>
            </a:r>
          </a:p>
          <a:p>
            <a:r>
              <a:t>(Optional if time) Git: I worked on a backend branch and merged into main when a feature was tested, so I never broke my partner's work.</a:t>
            </a:r>
          </a:p>
          <a:p/>
          <a:p>
            <a:r>
              <a:t>Closing: In short, the backend is a REST API with 29 routes over 5 linked tables, with hashed passwords, token login and three permission levels. Every route was tested with Thunder Client before the frontend used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EDC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8229600" cy="365760"/>
          </a:xfrm>
          <a:prstGeom prst="rect">
            <a:avLst/>
          </a:prstGeom>
          <a:noFill/>
        </p:spPr>
        <p:txBody>
          <a:bodyPr wrap="square" anchor="t" lIns="0" rIns="0" tIns="0" bIns="0">
            <a:spAutoFit/>
          </a:bodyPr>
          <a:lstStyle/>
          <a:p>
            <a:pPr algn="l"/>
            <a:r>
              <a:rPr sz="1300" b="1">
                <a:solidFill>
                  <a:srgbClr val="B4301A"/>
                </a:solidFill>
                <a:latin typeface="Poppins"/>
              </a:rPr>
              <a:t>BACKEND · KAYNE SHAW</a:t>
            </a:r>
          </a:p>
        </p:txBody>
      </p:sp>
      <p:sp>
        <p:nvSpPr>
          <p:cNvPr id="4" name="TextBox 3"/>
          <p:cNvSpPr txBox="1"/>
          <p:nvPr/>
        </p:nvSpPr>
        <p:spPr>
          <a:xfrm>
            <a:off x="731520" y="777240"/>
            <a:ext cx="10515600" cy="914400"/>
          </a:xfrm>
          <a:prstGeom prst="rect">
            <a:avLst/>
          </a:prstGeom>
          <a:noFill/>
        </p:spPr>
        <p:txBody>
          <a:bodyPr wrap="square" anchor="t" lIns="0" rIns="0" tIns="0" bIns="0">
            <a:spAutoFit/>
          </a:bodyPr>
          <a:lstStyle/>
          <a:p>
            <a:pPr algn="l"/>
            <a:r>
              <a:rPr sz="4000" b="1">
                <a:solidFill>
                  <a:srgbClr val="2B120A"/>
                </a:solidFill>
                <a:latin typeface="Poppins"/>
              </a:rPr>
              <a:t>My part: the API and the database</a:t>
            </a:r>
          </a:p>
        </p:txBody>
      </p:sp>
      <p:sp>
        <p:nvSpPr>
          <p:cNvPr id="5" name="TextBox 4"/>
          <p:cNvSpPr txBox="1"/>
          <p:nvPr/>
        </p:nvSpPr>
        <p:spPr>
          <a:xfrm>
            <a:off x="10332720" y="502920"/>
            <a:ext cx="1371600" cy="365760"/>
          </a:xfrm>
          <a:prstGeom prst="rect">
            <a:avLst/>
          </a:prstGeom>
          <a:noFill/>
        </p:spPr>
        <p:txBody>
          <a:bodyPr wrap="square" anchor="t" lIns="0" rIns="0" tIns="0" bIns="0">
            <a:spAutoFit/>
          </a:bodyPr>
          <a:lstStyle/>
          <a:p>
            <a:pPr algn="r"/>
            <a:r>
              <a:rPr sz="1300" b="0">
                <a:solidFill>
                  <a:srgbClr val="2B120A"/>
                </a:solidFill>
                <a:latin typeface="Poppins"/>
              </a:rPr>
              <a:t>1 / 5</a:t>
            </a:r>
          </a:p>
        </p:txBody>
      </p:sp>
      <p:sp>
        <p:nvSpPr>
          <p:cNvPr id="6" name="Rounded Rectangle 5"/>
          <p:cNvSpPr/>
          <p:nvPr/>
        </p:nvSpPr>
        <p:spPr>
          <a:xfrm>
            <a:off x="822960" y="2331720"/>
            <a:ext cx="3017520" cy="1554480"/>
          </a:xfrm>
          <a:prstGeom prst="roundRect">
            <a:avLst>
              <a:gd name="adj" fmla="val 12000"/>
            </a:avLst>
          </a:prstGeom>
          <a:solidFill>
            <a:srgbClr val="BCD5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2B120A"/>
                </a:solidFill>
                <a:latin typeface="Poppins"/>
              </a:rPr>
              <a:t>React</a:t>
            </a:r>
          </a:p>
          <a:p>
            <a:pPr algn="ctr"/>
            <a:r>
              <a:rPr sz="1612">
                <a:solidFill>
                  <a:srgbClr val="2B120A"/>
                </a:solidFill>
                <a:latin typeface="Poppins"/>
              </a:rPr>
              <a:t>Front-end · Lilou</a:t>
            </a:r>
          </a:p>
        </p:txBody>
      </p:sp>
      <p:sp>
        <p:nvSpPr>
          <p:cNvPr id="7" name="Rounded Rectangle 6"/>
          <p:cNvSpPr/>
          <p:nvPr/>
        </p:nvSpPr>
        <p:spPr>
          <a:xfrm>
            <a:off x="4572000" y="2331720"/>
            <a:ext cx="3017520" cy="155448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7EDC8"/>
                </a:solidFill>
                <a:latin typeface="Poppins"/>
              </a:rPr>
              <a:t>Flask API</a:t>
            </a:r>
          </a:p>
          <a:p>
            <a:pPr algn="ctr"/>
            <a:r>
              <a:rPr sz="1612">
                <a:solidFill>
                  <a:srgbClr val="F7EDC8"/>
                </a:solidFill>
                <a:latin typeface="Poppins"/>
              </a:rPr>
              <a:t>Python · me</a:t>
            </a:r>
          </a:p>
        </p:txBody>
      </p:sp>
      <p:sp>
        <p:nvSpPr>
          <p:cNvPr id="8" name="Rounded Rectangle 7"/>
          <p:cNvSpPr/>
          <p:nvPr/>
        </p:nvSpPr>
        <p:spPr>
          <a:xfrm>
            <a:off x="8321040" y="2331720"/>
            <a:ext cx="3017520" cy="1554480"/>
          </a:xfrm>
          <a:prstGeom prst="roundRect">
            <a:avLst>
              <a:gd name="adj" fmla="val 12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7EDC8"/>
                </a:solidFill>
                <a:latin typeface="Poppins"/>
              </a:rPr>
              <a:t>MySQL</a:t>
            </a:r>
          </a:p>
          <a:p>
            <a:pPr algn="ctr"/>
            <a:r>
              <a:rPr sz="1612">
                <a:solidFill>
                  <a:srgbClr val="F7EDC8"/>
                </a:solidFill>
                <a:latin typeface="Poppins"/>
              </a:rPr>
              <a:t>5 tables · me</a:t>
            </a:r>
          </a:p>
        </p:txBody>
      </p:sp>
      <p:cxnSp>
        <p:nvCxnSpPr>
          <p:cNvPr id="9" name="Connector 8"/>
          <p:cNvCxnSpPr/>
          <p:nvPr/>
        </p:nvCxnSpPr>
        <p:spPr>
          <a:xfrm>
            <a:off x="3886200" y="3108960"/>
            <a:ext cx="640080" cy="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635240" y="3108960"/>
            <a:ext cx="640080" cy="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11880" y="2606040"/>
            <a:ext cx="1234440" cy="365760"/>
          </a:xfrm>
          <a:prstGeom prst="rect">
            <a:avLst/>
          </a:prstGeom>
          <a:noFill/>
        </p:spPr>
        <p:txBody>
          <a:bodyPr wrap="square" anchor="t" lIns="0" rIns="0" tIns="0" bIns="0">
            <a:spAutoFit/>
          </a:bodyPr>
          <a:lstStyle/>
          <a:p>
            <a:pPr algn="ctr"/>
            <a:r>
              <a:rPr sz="1100" b="1">
                <a:solidFill>
                  <a:srgbClr val="2B120A"/>
                </a:solidFill>
                <a:latin typeface="Poppins"/>
              </a:rPr>
              <a:t>HTTP + JSON</a:t>
            </a:r>
          </a:p>
        </p:txBody>
      </p:sp>
      <p:sp>
        <p:nvSpPr>
          <p:cNvPr id="12" name="TextBox 11"/>
          <p:cNvSpPr txBox="1"/>
          <p:nvPr/>
        </p:nvSpPr>
        <p:spPr>
          <a:xfrm>
            <a:off x="7360920" y="2606040"/>
            <a:ext cx="1234440" cy="365760"/>
          </a:xfrm>
          <a:prstGeom prst="rect">
            <a:avLst/>
          </a:prstGeom>
          <a:noFill/>
        </p:spPr>
        <p:txBody>
          <a:bodyPr wrap="square" anchor="t" lIns="0" rIns="0" tIns="0" bIns="0">
            <a:spAutoFit/>
          </a:bodyPr>
          <a:lstStyle/>
          <a:p>
            <a:pPr algn="ctr"/>
            <a:r>
              <a:rPr sz="1100" b="1">
                <a:solidFill>
                  <a:srgbClr val="2B120A"/>
                </a:solidFill>
                <a:latin typeface="Poppins"/>
              </a:rPr>
              <a:t>SQL</a:t>
            </a:r>
          </a:p>
        </p:txBody>
      </p:sp>
      <p:sp>
        <p:nvSpPr>
          <p:cNvPr id="13" name="TextBox 12"/>
          <p:cNvSpPr txBox="1"/>
          <p:nvPr/>
        </p:nvSpPr>
        <p:spPr>
          <a:xfrm>
            <a:off x="822960" y="4434840"/>
            <a:ext cx="10515600" cy="457200"/>
          </a:xfrm>
          <a:prstGeom prst="rect">
            <a:avLst/>
          </a:prstGeom>
          <a:noFill/>
        </p:spPr>
        <p:txBody>
          <a:bodyPr wrap="square" anchor="t" lIns="0" rIns="0" tIns="0" bIns="0">
            <a:spAutoFit/>
          </a:bodyPr>
          <a:lstStyle/>
          <a:p>
            <a:pPr algn="l"/>
            <a:r>
              <a:rPr sz="1800" b="0">
                <a:solidFill>
                  <a:srgbClr val="2B120A"/>
                </a:solidFill>
                <a:latin typeface="Poppins"/>
              </a:rPr>
              <a:t>The front-end never touches the database: it calls my API, my API runs the SQL and sends back JSON.</a:t>
            </a:r>
          </a:p>
        </p:txBody>
      </p:sp>
      <p:sp>
        <p:nvSpPr>
          <p:cNvPr id="14" name="Rounded Rectangle 13"/>
          <p:cNvSpPr/>
          <p:nvPr/>
        </p:nvSpPr>
        <p:spPr>
          <a:xfrm>
            <a:off x="822960" y="5257800"/>
            <a:ext cx="132588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Python 3</a:t>
            </a:r>
          </a:p>
        </p:txBody>
      </p:sp>
      <p:sp>
        <p:nvSpPr>
          <p:cNvPr id="15" name="Rounded Rectangle 14"/>
          <p:cNvSpPr/>
          <p:nvPr/>
        </p:nvSpPr>
        <p:spPr>
          <a:xfrm>
            <a:off x="2313432" y="5257800"/>
            <a:ext cx="137160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Flask 3.1</a:t>
            </a:r>
          </a:p>
        </p:txBody>
      </p:sp>
      <p:sp>
        <p:nvSpPr>
          <p:cNvPr id="16" name="Rounded Rectangle 15"/>
          <p:cNvSpPr/>
          <p:nvPr/>
        </p:nvSpPr>
        <p:spPr>
          <a:xfrm>
            <a:off x="3849624" y="5257800"/>
            <a:ext cx="137160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PyMySQL</a:t>
            </a:r>
          </a:p>
        </p:txBody>
      </p:sp>
      <p:sp>
        <p:nvSpPr>
          <p:cNvPr id="17" name="Rounded Rectangle 16"/>
          <p:cNvSpPr/>
          <p:nvPr/>
        </p:nvSpPr>
        <p:spPr>
          <a:xfrm>
            <a:off x="5385816" y="5257800"/>
            <a:ext cx="118872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MySQL</a:t>
            </a:r>
          </a:p>
        </p:txBody>
      </p:sp>
      <p:sp>
        <p:nvSpPr>
          <p:cNvPr id="18" name="Rounded Rectangle 17"/>
          <p:cNvSpPr/>
          <p:nvPr/>
        </p:nvSpPr>
        <p:spPr>
          <a:xfrm>
            <a:off x="6739127" y="5257800"/>
            <a:ext cx="146304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Werkzeug</a:t>
            </a:r>
          </a:p>
        </p:txBody>
      </p:sp>
      <p:sp>
        <p:nvSpPr>
          <p:cNvPr id="19" name="Rounded Rectangle 18"/>
          <p:cNvSpPr/>
          <p:nvPr/>
        </p:nvSpPr>
        <p:spPr>
          <a:xfrm>
            <a:off x="8366759" y="5257800"/>
            <a:ext cx="169164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itsdangerous</a:t>
            </a:r>
          </a:p>
        </p:txBody>
      </p:sp>
      <p:sp>
        <p:nvSpPr>
          <p:cNvPr id="20" name="Rounded Rectangle 19"/>
          <p:cNvSpPr/>
          <p:nvPr/>
        </p:nvSpPr>
        <p:spPr>
          <a:xfrm>
            <a:off x="10222992" y="5257800"/>
            <a:ext cx="1463040" cy="38404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flask-cors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EDC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8229600" cy="365760"/>
          </a:xfrm>
          <a:prstGeom prst="rect">
            <a:avLst/>
          </a:prstGeom>
          <a:noFill/>
        </p:spPr>
        <p:txBody>
          <a:bodyPr wrap="square" anchor="t" lIns="0" rIns="0" tIns="0" bIns="0">
            <a:spAutoFit/>
          </a:bodyPr>
          <a:lstStyle/>
          <a:p>
            <a:pPr algn="l"/>
            <a:r>
              <a:rPr sz="1300" b="1">
                <a:solidFill>
                  <a:srgbClr val="B4301A"/>
                </a:solidFill>
                <a:latin typeface="Poppins"/>
              </a:rPr>
              <a:t>DATABASE · MYSQL</a:t>
            </a:r>
          </a:p>
        </p:txBody>
      </p:sp>
      <p:sp>
        <p:nvSpPr>
          <p:cNvPr id="4" name="TextBox 3"/>
          <p:cNvSpPr txBox="1"/>
          <p:nvPr/>
        </p:nvSpPr>
        <p:spPr>
          <a:xfrm>
            <a:off x="731520" y="777240"/>
            <a:ext cx="10515600" cy="914400"/>
          </a:xfrm>
          <a:prstGeom prst="rect">
            <a:avLst/>
          </a:prstGeom>
          <a:noFill/>
        </p:spPr>
        <p:txBody>
          <a:bodyPr wrap="square" anchor="t" lIns="0" rIns="0" tIns="0" bIns="0">
            <a:spAutoFit/>
          </a:bodyPr>
          <a:lstStyle/>
          <a:p>
            <a:pPr algn="l"/>
            <a:r>
              <a:rPr sz="4000" b="1">
                <a:solidFill>
                  <a:srgbClr val="2B120A"/>
                </a:solidFill>
                <a:latin typeface="Poppins"/>
              </a:rPr>
              <a:t>5 linked tables</a:t>
            </a:r>
          </a:p>
        </p:txBody>
      </p:sp>
      <p:sp>
        <p:nvSpPr>
          <p:cNvPr id="5" name="TextBox 4"/>
          <p:cNvSpPr txBox="1"/>
          <p:nvPr/>
        </p:nvSpPr>
        <p:spPr>
          <a:xfrm>
            <a:off x="10332720" y="502920"/>
            <a:ext cx="1371600" cy="365760"/>
          </a:xfrm>
          <a:prstGeom prst="rect">
            <a:avLst/>
          </a:prstGeom>
          <a:noFill/>
        </p:spPr>
        <p:txBody>
          <a:bodyPr wrap="square" anchor="t" lIns="0" rIns="0" tIns="0" bIns="0">
            <a:spAutoFit/>
          </a:bodyPr>
          <a:lstStyle/>
          <a:p>
            <a:pPr algn="r"/>
            <a:r>
              <a:rPr sz="1300" b="0">
                <a:solidFill>
                  <a:srgbClr val="2B120A"/>
                </a:solidFill>
                <a:latin typeface="Poppins"/>
              </a:rPr>
              <a:t>2 / 5</a:t>
            </a:r>
          </a:p>
        </p:txBody>
      </p:sp>
      <p:sp>
        <p:nvSpPr>
          <p:cNvPr id="6" name="Rounded Rectangle 5"/>
          <p:cNvSpPr/>
          <p:nvPr/>
        </p:nvSpPr>
        <p:spPr>
          <a:xfrm>
            <a:off x="822960" y="2011680"/>
            <a:ext cx="2377440" cy="777240"/>
          </a:xfrm>
          <a:prstGeom prst="roundRect">
            <a:avLst>
              <a:gd name="adj" fmla="val 12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companies</a:t>
            </a:r>
          </a:p>
        </p:txBody>
      </p:sp>
      <p:sp>
        <p:nvSpPr>
          <p:cNvPr id="7" name="Rounded Rectangle 6"/>
          <p:cNvSpPr/>
          <p:nvPr/>
        </p:nvSpPr>
        <p:spPr>
          <a:xfrm>
            <a:off x="4206240" y="2011680"/>
            <a:ext cx="2377440" cy="777240"/>
          </a:xfrm>
          <a:prstGeom prst="roundRect">
            <a:avLst>
              <a:gd name="adj" fmla="val 12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people</a:t>
            </a:r>
          </a:p>
          <a:p>
            <a:pPr algn="ctr"/>
            <a:r>
              <a:rPr sz="1116">
                <a:solidFill>
                  <a:srgbClr val="F7EDC8"/>
                </a:solidFill>
                <a:latin typeface="Poppins"/>
              </a:rPr>
              <a:t>role: admin · user · employer</a:t>
            </a:r>
          </a:p>
        </p:txBody>
      </p:sp>
      <p:sp>
        <p:nvSpPr>
          <p:cNvPr id="8" name="Rounded Rectangle 7"/>
          <p:cNvSpPr/>
          <p:nvPr/>
        </p:nvSpPr>
        <p:spPr>
          <a:xfrm>
            <a:off x="822960" y="3749039"/>
            <a:ext cx="2377440" cy="77724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7EDC8"/>
                </a:solidFill>
                <a:latin typeface="Poppins"/>
              </a:rPr>
              <a:t>advertisements</a:t>
            </a:r>
          </a:p>
        </p:txBody>
      </p:sp>
      <p:sp>
        <p:nvSpPr>
          <p:cNvPr id="9" name="Rounded Rectangle 8"/>
          <p:cNvSpPr/>
          <p:nvPr/>
        </p:nvSpPr>
        <p:spPr>
          <a:xfrm>
            <a:off x="822960" y="5440680"/>
            <a:ext cx="2377440" cy="77724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applications</a:t>
            </a:r>
          </a:p>
        </p:txBody>
      </p:sp>
      <p:sp>
        <p:nvSpPr>
          <p:cNvPr id="10" name="Rounded Rectangle 9"/>
          <p:cNvSpPr/>
          <p:nvPr/>
        </p:nvSpPr>
        <p:spPr>
          <a:xfrm>
            <a:off x="4206240" y="5440680"/>
            <a:ext cx="2377440" cy="77724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favourites</a:t>
            </a:r>
          </a:p>
        </p:txBody>
      </p:sp>
      <p:cxnSp>
        <p:nvCxnSpPr>
          <p:cNvPr id="11" name="Connector 10"/>
          <p:cNvCxnSpPr/>
          <p:nvPr/>
        </p:nvCxnSpPr>
        <p:spPr>
          <a:xfrm flipH="1">
            <a:off x="3246120" y="2395728"/>
            <a:ext cx="914400" cy="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11680" y="2834640"/>
            <a:ext cx="0" cy="86868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246120" y="2834640"/>
            <a:ext cx="1234440" cy="118872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11680" y="4572000"/>
            <a:ext cx="0" cy="82296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017520" y="4572000"/>
            <a:ext cx="1143000" cy="109728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394960" y="2834640"/>
            <a:ext cx="0" cy="2560320"/>
          </a:xfrm>
          <a:prstGeom prst="line">
            <a:avLst/>
          </a:prstGeom>
          <a:ln w="31750">
            <a:solidFill>
              <a:srgbClr val="2B12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6400800"/>
            <a:ext cx="5943600" cy="274320"/>
          </a:xfrm>
          <a:prstGeom prst="rect">
            <a:avLst/>
          </a:prstGeom>
          <a:noFill/>
        </p:spPr>
        <p:txBody>
          <a:bodyPr wrap="square" anchor="t" lIns="0" rIns="0" tIns="0" bIns="0">
            <a:spAutoFit/>
          </a:bodyPr>
          <a:lstStyle/>
          <a:p>
            <a:pPr algn="l"/>
            <a:r>
              <a:rPr sz="1100" b="1">
                <a:solidFill>
                  <a:srgbClr val="B4301A"/>
                </a:solidFill>
                <a:latin typeface="Poppins"/>
              </a:rPr>
              <a:t>Arrows = foreign keys</a:t>
            </a:r>
          </a:p>
        </p:txBody>
      </p:sp>
      <p:sp>
        <p:nvSpPr>
          <p:cNvPr id="18" name="TextBox 17"/>
          <p:cNvSpPr txBox="1"/>
          <p:nvPr/>
        </p:nvSpPr>
        <p:spPr>
          <a:xfrm>
            <a:off x="7223760" y="2011680"/>
            <a:ext cx="4389120" cy="2377440"/>
          </a:xfrm>
          <a:prstGeom prst="rect">
            <a:avLst/>
          </a:prstGeom>
          <a:noFill/>
        </p:spPr>
        <p:txBody>
          <a:bodyPr wrap="square" anchor="t" lIns="0" rIns="0" tIns="0" bIns="0">
            <a:spAutoFit/>
          </a:bodyPr>
          <a:lstStyle/>
          <a:p>
            <a:pPr algn="l">
              <a:spcAft>
                <a:spcPts val="1200"/>
              </a:spcAft>
            </a:pPr>
            <a:r>
              <a:rPr sz="1700" b="1">
                <a:solidFill>
                  <a:srgbClr val="2B120A"/>
                </a:solidFill>
                <a:latin typeface="Poppins"/>
              </a:rPr>
              <a:t>Foreign keys: </a:t>
            </a:r>
            <a:r>
              <a:rPr sz="1700" b="0">
                <a:solidFill>
                  <a:srgbClr val="2B120A"/>
                </a:solidFill>
                <a:latin typeface="Poppins"/>
              </a:rPr>
              <a:t>the database itself refuses bad data.</a:t>
            </a:r>
          </a:p>
          <a:p>
            <a:pPr algn="l">
              <a:spcAft>
                <a:spcPts val="1200"/>
              </a:spcAft>
            </a:pPr>
            <a:r>
              <a:rPr sz="1700" b="1">
                <a:solidFill>
                  <a:srgbClr val="2B120A"/>
                </a:solidFill>
                <a:latin typeface="Poppins"/>
              </a:rPr>
              <a:t>ON DELETE CASCADE: </a:t>
            </a:r>
            <a:r>
              <a:rPr sz="1700" b="0">
                <a:solidFill>
                  <a:srgbClr val="2B120A"/>
                </a:solidFill>
                <a:latin typeface="Poppins"/>
              </a:rPr>
              <a:t>delete a company and its ads go with it.</a:t>
            </a:r>
          </a:p>
          <a:p>
            <a:pPr algn="l">
              <a:spcAft>
                <a:spcPts val="1200"/>
              </a:spcAft>
            </a:pPr>
            <a:r>
              <a:rPr sz="1700" b="1">
                <a:solidFill>
                  <a:srgbClr val="2B120A"/>
                </a:solidFill>
                <a:latin typeface="Poppins"/>
              </a:rPr>
              <a:t>Composite primary key: </a:t>
            </a:r>
            <a:r>
              <a:rPr sz="1700" b="0">
                <a:solidFill>
                  <a:srgbClr val="2B120A"/>
                </a:solidFill>
                <a:latin typeface="Poppins"/>
              </a:rPr>
              <a:t>one person can't favourite the same ad twice.</a:t>
            </a:r>
          </a:p>
        </p:txBody>
      </p:sp>
      <p:sp>
        <p:nvSpPr>
          <p:cNvPr id="19" name="Rounded Rectangle 18"/>
          <p:cNvSpPr/>
          <p:nvPr/>
        </p:nvSpPr>
        <p:spPr>
          <a:xfrm>
            <a:off x="7223760" y="4572000"/>
            <a:ext cx="4480560" cy="1645920"/>
          </a:xfrm>
          <a:prstGeom prst="roundRect">
            <a:avLst>
              <a:gd name="adj" fmla="val 5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0" y="4800600"/>
            <a:ext cx="3931920" cy="1188720"/>
          </a:xfrm>
          <a:prstGeom prst="rect">
            <a:avLst/>
          </a:prstGeom>
          <a:noFill/>
        </p:spPr>
        <p:txBody>
          <a:bodyPr wrap="square" anchor="t" lIns="0" rIns="0" tIns="0" bIns="0">
            <a:spAutoFit/>
          </a:bodyPr>
          <a:lstStyle/>
          <a:p>
            <a:pPr algn="l"/>
            <a:r>
              <a:rPr sz="1500" b="0">
                <a:solidFill>
                  <a:srgbClr val="F7EDC8"/>
                </a:solidFill>
                <a:latin typeface="Roboto Mono"/>
              </a:rPr>
              <a:t>PRIMARY KEY (person_id, ad_id),</a:t>
            </a:r>
          </a:p>
          <a:p>
            <a:pPr algn="l"/>
            <a:r>
              <a:rPr sz="1500" b="0">
                <a:solidFill>
                  <a:srgbClr val="F7EDC8"/>
                </a:solidFill>
                <a:latin typeface="Roboto Mono"/>
              </a:rPr>
              <a:t>FOREIGN KEY (ad_id)</a:t>
            </a:r>
          </a:p>
          <a:p>
            <a:pPr algn="l"/>
            <a:r>
              <a:rPr sz="1500" b="0">
                <a:solidFill>
                  <a:srgbClr val="F7EDC8"/>
                </a:solidFill>
                <a:latin typeface="Roboto Mono"/>
              </a:rPr>
              <a:t>  REFERENCES advertisements(id)</a:t>
            </a:r>
          </a:p>
          <a:p>
            <a:pPr algn="l"/>
            <a:r>
              <a:rPr sz="1500" b="0">
                <a:solidFill>
                  <a:srgbClr val="F2C14E"/>
                </a:solidFill>
                <a:latin typeface="Roboto Mono"/>
              </a:rPr>
              <a:t>  ON DELETE CASCADE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EDC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8229600" cy="365760"/>
          </a:xfrm>
          <a:prstGeom prst="rect">
            <a:avLst/>
          </a:prstGeom>
          <a:noFill/>
        </p:spPr>
        <p:txBody>
          <a:bodyPr wrap="square" anchor="t" lIns="0" rIns="0" tIns="0" bIns="0">
            <a:spAutoFit/>
          </a:bodyPr>
          <a:lstStyle/>
          <a:p>
            <a:pPr algn="l"/>
            <a:r>
              <a:rPr sz="1300" b="1">
                <a:solidFill>
                  <a:srgbClr val="B4301A"/>
                </a:solidFill>
                <a:latin typeface="Poppins"/>
              </a:rPr>
              <a:t>REST API · FLASK</a:t>
            </a:r>
          </a:p>
        </p:txBody>
      </p:sp>
      <p:sp>
        <p:nvSpPr>
          <p:cNvPr id="4" name="TextBox 3"/>
          <p:cNvSpPr txBox="1"/>
          <p:nvPr/>
        </p:nvSpPr>
        <p:spPr>
          <a:xfrm>
            <a:off x="731520" y="777240"/>
            <a:ext cx="10515600" cy="914400"/>
          </a:xfrm>
          <a:prstGeom prst="rect">
            <a:avLst/>
          </a:prstGeom>
          <a:noFill/>
        </p:spPr>
        <p:txBody>
          <a:bodyPr wrap="square" anchor="t" lIns="0" rIns="0" tIns="0" bIns="0">
            <a:spAutoFit/>
          </a:bodyPr>
          <a:lstStyle/>
          <a:p>
            <a:pPr algn="l"/>
            <a:r>
              <a:rPr sz="4000" b="1">
                <a:solidFill>
                  <a:srgbClr val="2B120A"/>
                </a:solidFill>
                <a:latin typeface="Poppins"/>
              </a:rPr>
              <a:t>29 routes, one pattern</a:t>
            </a:r>
          </a:p>
        </p:txBody>
      </p:sp>
      <p:sp>
        <p:nvSpPr>
          <p:cNvPr id="5" name="TextBox 4"/>
          <p:cNvSpPr txBox="1"/>
          <p:nvPr/>
        </p:nvSpPr>
        <p:spPr>
          <a:xfrm>
            <a:off x="10332720" y="502920"/>
            <a:ext cx="1371600" cy="365760"/>
          </a:xfrm>
          <a:prstGeom prst="rect">
            <a:avLst/>
          </a:prstGeom>
          <a:noFill/>
        </p:spPr>
        <p:txBody>
          <a:bodyPr wrap="square" anchor="t" lIns="0" rIns="0" tIns="0" bIns="0">
            <a:spAutoFit/>
          </a:bodyPr>
          <a:lstStyle/>
          <a:p>
            <a:pPr algn="r"/>
            <a:r>
              <a:rPr sz="1300" b="0">
                <a:solidFill>
                  <a:srgbClr val="2B120A"/>
                </a:solidFill>
                <a:latin typeface="Poppins"/>
              </a:rPr>
              <a:t>3 / 5</a:t>
            </a:r>
          </a:p>
        </p:txBody>
      </p:sp>
      <p:sp>
        <p:nvSpPr>
          <p:cNvPr id="6" name="Rounded Rectangle 5"/>
          <p:cNvSpPr/>
          <p:nvPr/>
        </p:nvSpPr>
        <p:spPr>
          <a:xfrm>
            <a:off x="731520" y="1920240"/>
            <a:ext cx="6400800" cy="4206240"/>
          </a:xfrm>
          <a:prstGeom prst="roundRect">
            <a:avLst>
              <a:gd name="adj" fmla="val 5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5852160" cy="3749039"/>
          </a:xfrm>
          <a:prstGeom prst="rect">
            <a:avLst/>
          </a:prstGeom>
          <a:noFill/>
        </p:spPr>
        <p:txBody>
          <a:bodyPr wrap="square" anchor="t" lIns="0" rIns="0" tIns="0" bIns="0">
            <a:spAutoFit/>
          </a:bodyPr>
          <a:lstStyle/>
          <a:p>
            <a:pPr algn="l"/>
            <a:r>
              <a:rPr sz="1400" b="0">
                <a:solidFill>
                  <a:srgbClr val="F7EDC8"/>
                </a:solidFill>
                <a:latin typeface="Roboto Mono"/>
              </a:rPr>
              <a:t>@app.route("/api/companies/&lt;int:company_id&gt;",</a:t>
            </a:r>
          </a:p>
          <a:p>
            <a:pPr algn="l"/>
            <a:r>
              <a:rPr sz="1400" b="0">
                <a:solidFill>
                  <a:srgbClr val="F7EDC8"/>
                </a:solidFill>
                <a:latin typeface="Roboto Mono"/>
              </a:rPr>
              <a:t>           methods=["GET"])</a:t>
            </a:r>
          </a:p>
          <a:p>
            <a:pPr algn="l"/>
            <a:r>
              <a:rPr sz="1400" b="0">
                <a:solidFill>
                  <a:srgbClr val="F7EDC8"/>
                </a:solidFill>
                <a:latin typeface="Roboto Mono"/>
              </a:rPr>
              <a:t>def get_company(company_id):</a:t>
            </a:r>
          </a:p>
          <a:p>
            <a:pPr algn="l"/>
            <a:r>
              <a:rPr sz="1400" b="0">
                <a:solidFill>
                  <a:srgbClr val="F7EDC8"/>
                </a:solidFill>
                <a:latin typeface="Roboto Mono"/>
              </a:rPr>
              <a:t>    conn = get_db()</a:t>
            </a:r>
          </a:p>
          <a:p>
            <a:pPr algn="l"/>
            <a:r>
              <a:rPr sz="1400" b="0">
                <a:solidFill>
                  <a:srgbClr val="F7EDC8"/>
                </a:solidFill>
                <a:latin typeface="Roboto Mono"/>
              </a:rPr>
              <a:t>    with conn.cursor() as cursor:</a:t>
            </a:r>
          </a:p>
          <a:p>
            <a:pPr algn="l"/>
            <a:r>
              <a:rPr sz="1400" b="0">
                <a:solidFill>
                  <a:srgbClr val="F2C14E"/>
                </a:solidFill>
                <a:latin typeface="Roboto Mono"/>
              </a:rPr>
              <a:t>        cursor.execute("SELECT * FROM companies</a:t>
            </a:r>
          </a:p>
          <a:p>
            <a:pPr algn="l"/>
            <a:r>
              <a:rPr sz="1400" b="0">
                <a:solidFill>
                  <a:srgbClr val="F2C14E"/>
                </a:solidFill>
                <a:latin typeface="Roboto Mono"/>
              </a:rPr>
              <a:t>                        WHERE id=%s", (company_id,))</a:t>
            </a:r>
          </a:p>
          <a:p>
            <a:pPr algn="l"/>
            <a:r>
              <a:rPr sz="1400" b="0">
                <a:solidFill>
                  <a:srgbClr val="F7EDC8"/>
                </a:solidFill>
                <a:latin typeface="Roboto Mono"/>
              </a:rPr>
              <a:t>        company = cursor.fetchone()</a:t>
            </a:r>
          </a:p>
          <a:p>
            <a:pPr algn="l"/>
            <a:r>
              <a:rPr sz="1400" b="0">
                <a:solidFill>
                  <a:srgbClr val="F7EDC8"/>
                </a:solidFill>
                <a:latin typeface="Roboto Mono"/>
              </a:rPr>
              <a:t>    conn.close()</a:t>
            </a:r>
          </a:p>
          <a:p>
            <a:pPr algn="l"/>
            <a:r>
              <a:rPr sz="1400" b="0">
                <a:solidFill>
                  <a:srgbClr val="F7EDC8"/>
                </a:solidFill>
                <a:latin typeface="Roboto Mono"/>
              </a:rPr>
              <a:t/>
            </a:r>
          </a:p>
          <a:p>
            <a:pPr algn="l"/>
            <a:r>
              <a:rPr sz="1400" b="0">
                <a:solidFill>
                  <a:srgbClr val="F7EDC8"/>
                </a:solidFill>
                <a:latin typeface="Roboto Mono"/>
              </a:rPr>
              <a:t>    if company is None:</a:t>
            </a:r>
          </a:p>
          <a:p>
            <a:pPr algn="l"/>
            <a:r>
              <a:rPr sz="1400" b="0">
                <a:solidFill>
                  <a:srgbClr val="F7EDC8"/>
                </a:solidFill>
                <a:latin typeface="Roboto Mono"/>
              </a:rPr>
              <a:t>        return jsonify({"error": "..."}), 404</a:t>
            </a:r>
          </a:p>
          <a:p>
            <a:pPr algn="l"/>
            <a:r>
              <a:rPr sz="1400" b="0">
                <a:solidFill>
                  <a:srgbClr val="F7EDC8"/>
                </a:solidFill>
                <a:latin typeface="Roboto Mono"/>
              </a:rPr>
              <a:t>    return jsonify(company), 200</a:t>
            </a:r>
          </a:p>
        </p:txBody>
      </p:sp>
      <p:sp>
        <p:nvSpPr>
          <p:cNvPr id="8" name="TextBox 7"/>
          <p:cNvSpPr txBox="1"/>
          <p:nvPr/>
        </p:nvSpPr>
        <p:spPr>
          <a:xfrm>
            <a:off x="7589520" y="1920240"/>
            <a:ext cx="4114800" cy="365760"/>
          </a:xfrm>
          <a:prstGeom prst="rect">
            <a:avLst/>
          </a:prstGeom>
          <a:noFill/>
        </p:spPr>
        <p:txBody>
          <a:bodyPr wrap="square" anchor="t" lIns="0" rIns="0" tIns="0" bIns="0">
            <a:spAutoFit/>
          </a:bodyPr>
          <a:lstStyle/>
          <a:p>
            <a:pPr algn="l"/>
            <a:r>
              <a:rPr sz="1200" b="1">
                <a:solidFill>
                  <a:srgbClr val="B4301A"/>
                </a:solidFill>
                <a:latin typeface="Poppins"/>
              </a:rPr>
              <a:t>HTTP VERB = ACTION</a:t>
            </a:r>
          </a:p>
        </p:txBody>
      </p:sp>
      <p:sp>
        <p:nvSpPr>
          <p:cNvPr id="9" name="Rounded Rectangle 8"/>
          <p:cNvSpPr/>
          <p:nvPr/>
        </p:nvSpPr>
        <p:spPr>
          <a:xfrm>
            <a:off x="7589520" y="2286000"/>
            <a:ext cx="640080" cy="384048"/>
          </a:xfrm>
          <a:prstGeom prst="roundRect">
            <a:avLst>
              <a:gd name="adj" fmla="val 50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7EDC8"/>
                </a:solidFill>
                <a:latin typeface="Poppins"/>
              </a:rPr>
              <a:t>GET</a:t>
            </a:r>
          </a:p>
        </p:txBody>
      </p:sp>
      <p:sp>
        <p:nvSpPr>
          <p:cNvPr id="10" name="Rounded Rectangle 9"/>
          <p:cNvSpPr/>
          <p:nvPr/>
        </p:nvSpPr>
        <p:spPr>
          <a:xfrm>
            <a:off x="8302752" y="2286000"/>
            <a:ext cx="731520" cy="384048"/>
          </a:xfrm>
          <a:prstGeom prst="roundRect">
            <a:avLst>
              <a:gd name="adj" fmla="val 50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7EDC8"/>
                </a:solidFill>
                <a:latin typeface="Poppins"/>
              </a:rPr>
              <a:t>POST</a:t>
            </a:r>
          </a:p>
        </p:txBody>
      </p:sp>
      <p:sp>
        <p:nvSpPr>
          <p:cNvPr id="11" name="Rounded Rectangle 10"/>
          <p:cNvSpPr/>
          <p:nvPr/>
        </p:nvSpPr>
        <p:spPr>
          <a:xfrm>
            <a:off x="9107424" y="2286000"/>
            <a:ext cx="640080" cy="384048"/>
          </a:xfrm>
          <a:prstGeom prst="roundRect">
            <a:avLst>
              <a:gd name="adj" fmla="val 50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7EDC8"/>
                </a:solidFill>
                <a:latin typeface="Poppins"/>
              </a:rPr>
              <a:t>PUT</a:t>
            </a:r>
          </a:p>
        </p:txBody>
      </p:sp>
      <p:sp>
        <p:nvSpPr>
          <p:cNvPr id="12" name="Rounded Rectangle 11"/>
          <p:cNvSpPr/>
          <p:nvPr/>
        </p:nvSpPr>
        <p:spPr>
          <a:xfrm>
            <a:off x="9820656" y="2286000"/>
            <a:ext cx="868680" cy="384048"/>
          </a:xfrm>
          <a:prstGeom prst="roundRect">
            <a:avLst>
              <a:gd name="adj" fmla="val 50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7EDC8"/>
                </a:solidFill>
                <a:latin typeface="Poppins"/>
              </a:rPr>
              <a:t>PATCH</a:t>
            </a:r>
          </a:p>
        </p:txBody>
      </p:sp>
      <p:sp>
        <p:nvSpPr>
          <p:cNvPr id="13" name="Rounded Rectangle 12"/>
          <p:cNvSpPr/>
          <p:nvPr/>
        </p:nvSpPr>
        <p:spPr>
          <a:xfrm>
            <a:off x="10762488" y="2286000"/>
            <a:ext cx="914400" cy="384048"/>
          </a:xfrm>
          <a:prstGeom prst="roundRect">
            <a:avLst>
              <a:gd name="adj" fmla="val 50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7EDC8"/>
                </a:solidFill>
                <a:latin typeface="Poppins"/>
              </a:rPr>
              <a:t>DELETE</a:t>
            </a:r>
          </a:p>
        </p:txBody>
      </p:sp>
      <p:sp>
        <p:nvSpPr>
          <p:cNvPr id="14" name="TextBox 13"/>
          <p:cNvSpPr txBox="1"/>
          <p:nvPr/>
        </p:nvSpPr>
        <p:spPr>
          <a:xfrm>
            <a:off x="7589520" y="2971800"/>
            <a:ext cx="4114800" cy="365760"/>
          </a:xfrm>
          <a:prstGeom prst="rect">
            <a:avLst/>
          </a:prstGeom>
          <a:noFill/>
        </p:spPr>
        <p:txBody>
          <a:bodyPr wrap="square" anchor="t" lIns="0" rIns="0" tIns="0" bIns="0">
            <a:spAutoFit/>
          </a:bodyPr>
          <a:lstStyle/>
          <a:p>
            <a:pPr algn="l"/>
            <a:r>
              <a:rPr sz="1200" b="1">
                <a:solidFill>
                  <a:srgbClr val="B4301A"/>
                </a:solidFill>
                <a:latin typeface="Poppins"/>
              </a:rPr>
              <a:t>STATUS CODE = WHAT HAPPENED</a:t>
            </a:r>
          </a:p>
        </p:txBody>
      </p:sp>
      <p:sp>
        <p:nvSpPr>
          <p:cNvPr id="15" name="TextBox 14"/>
          <p:cNvSpPr txBox="1"/>
          <p:nvPr/>
        </p:nvSpPr>
        <p:spPr>
          <a:xfrm>
            <a:off x="7589520" y="3337560"/>
            <a:ext cx="4206240" cy="1645920"/>
          </a:xfrm>
          <a:prstGeom prst="rect">
            <a:avLst/>
          </a:prstGeom>
          <a:noFill/>
        </p:spPr>
        <p:txBody>
          <a:bodyPr wrap="square" anchor="t" lIns="0" rIns="0" tIns="0" bIns="0">
            <a:spAutoFit/>
          </a:bodyPr>
          <a:lstStyle/>
          <a:p>
            <a:pPr algn="l">
              <a:spcAft>
                <a:spcPts val="400"/>
              </a:spcAft>
            </a:pPr>
            <a:r>
              <a:rPr sz="1500" b="1">
                <a:solidFill>
                  <a:srgbClr val="2B120A"/>
                </a:solidFill>
                <a:latin typeface="Roboto Mono"/>
              </a:rPr>
              <a:t>200 / 201  </a:t>
            </a:r>
            <a:r>
              <a:rPr sz="1500" b="0">
                <a:solidFill>
                  <a:srgbClr val="2B120A"/>
                </a:solidFill>
                <a:latin typeface="Poppins"/>
              </a:rPr>
              <a:t>OK / created</a:t>
            </a:r>
          </a:p>
          <a:p>
            <a:pPr algn="l">
              <a:spcAft>
                <a:spcPts val="400"/>
              </a:spcAft>
            </a:pPr>
            <a:r>
              <a:rPr sz="1500" b="1">
                <a:solidFill>
                  <a:srgbClr val="2B120A"/>
                </a:solidFill>
                <a:latin typeface="Roboto Mono"/>
              </a:rPr>
              <a:t>400  </a:t>
            </a:r>
            <a:r>
              <a:rPr sz="1500" b="0">
                <a:solidFill>
                  <a:srgbClr val="2B120A"/>
                </a:solidFill>
                <a:latin typeface="Poppins"/>
              </a:rPr>
              <a:t>missing data</a:t>
            </a:r>
          </a:p>
          <a:p>
            <a:pPr algn="l">
              <a:spcAft>
                <a:spcPts val="400"/>
              </a:spcAft>
            </a:pPr>
            <a:r>
              <a:rPr sz="1500" b="1">
                <a:solidFill>
                  <a:srgbClr val="2B120A"/>
                </a:solidFill>
                <a:latin typeface="Roboto Mono"/>
              </a:rPr>
              <a:t>404  </a:t>
            </a:r>
            <a:r>
              <a:rPr sz="1500" b="0">
                <a:solidFill>
                  <a:srgbClr val="2B120A"/>
                </a:solidFill>
                <a:latin typeface="Poppins"/>
              </a:rPr>
              <a:t>id doesn't exist</a:t>
            </a:r>
          </a:p>
          <a:p>
            <a:pPr algn="l">
              <a:spcAft>
                <a:spcPts val="400"/>
              </a:spcAft>
            </a:pPr>
            <a:r>
              <a:rPr sz="1500" b="1">
                <a:solidFill>
                  <a:srgbClr val="2B120A"/>
                </a:solidFill>
                <a:latin typeface="Roboto Mono"/>
              </a:rPr>
              <a:t>409  </a:t>
            </a:r>
            <a:r>
              <a:rPr sz="1500" b="0">
                <a:solidFill>
                  <a:srgbClr val="2B120A"/>
                </a:solidFill>
                <a:latin typeface="Poppins"/>
              </a:rPr>
              <a:t>conflict (email already used)</a:t>
            </a:r>
          </a:p>
        </p:txBody>
      </p:sp>
      <p:sp>
        <p:nvSpPr>
          <p:cNvPr id="16" name="Rounded Rectangle 15"/>
          <p:cNvSpPr/>
          <p:nvPr/>
        </p:nvSpPr>
        <p:spPr>
          <a:xfrm>
            <a:off x="7589520" y="5166360"/>
            <a:ext cx="4160520" cy="96012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5257800"/>
            <a:ext cx="3840480" cy="822960"/>
          </a:xfrm>
          <a:prstGeom prst="rect">
            <a:avLst/>
          </a:prstGeom>
          <a:noFill/>
        </p:spPr>
        <p:txBody>
          <a:bodyPr wrap="square" anchor="ctr" lIns="0" rIns="0" tIns="0" bIns="0">
            <a:spAutoFit/>
          </a:bodyPr>
          <a:lstStyle/>
          <a:p>
            <a:pPr algn="l"/>
            <a:r>
              <a:rPr sz="1800" b="1">
                <a:solidFill>
                  <a:srgbClr val="F7EDC8"/>
                </a:solidFill>
                <a:latin typeface="Roboto Mono"/>
              </a:rPr>
              <a:t>%s</a:t>
            </a:r>
            <a:r>
              <a:rPr sz="1400" b="0">
                <a:solidFill>
                  <a:srgbClr val="F7EDC8"/>
                </a:solidFill>
                <a:latin typeface="Poppins"/>
              </a:rPr>
              <a:t>  user data never goes straight into SQL → no SQL injection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EDC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8229600" cy="365760"/>
          </a:xfrm>
          <a:prstGeom prst="rect">
            <a:avLst/>
          </a:prstGeom>
          <a:noFill/>
        </p:spPr>
        <p:txBody>
          <a:bodyPr wrap="square" anchor="t" lIns="0" rIns="0" tIns="0" bIns="0">
            <a:spAutoFit/>
          </a:bodyPr>
          <a:lstStyle/>
          <a:p>
            <a:pPr algn="l"/>
            <a:r>
              <a:rPr sz="1300" b="1">
                <a:solidFill>
                  <a:srgbClr val="B4301A"/>
                </a:solidFill>
                <a:latin typeface="Poppins"/>
              </a:rPr>
              <a:t>SECURITY · LOGIN &amp; ROLES</a:t>
            </a:r>
          </a:p>
        </p:txBody>
      </p:sp>
      <p:sp>
        <p:nvSpPr>
          <p:cNvPr id="4" name="TextBox 3"/>
          <p:cNvSpPr txBox="1"/>
          <p:nvPr/>
        </p:nvSpPr>
        <p:spPr>
          <a:xfrm>
            <a:off x="731520" y="777240"/>
            <a:ext cx="10515600" cy="914400"/>
          </a:xfrm>
          <a:prstGeom prst="rect">
            <a:avLst/>
          </a:prstGeom>
          <a:noFill/>
        </p:spPr>
        <p:txBody>
          <a:bodyPr wrap="square" anchor="t" lIns="0" rIns="0" tIns="0" bIns="0">
            <a:spAutoFit/>
          </a:bodyPr>
          <a:lstStyle/>
          <a:p>
            <a:pPr algn="l"/>
            <a:r>
              <a:rPr sz="4000" b="1">
                <a:solidFill>
                  <a:srgbClr val="2B120A"/>
                </a:solidFill>
                <a:latin typeface="Poppins"/>
              </a:rPr>
              <a:t>Trust the token, not the front-end</a:t>
            </a:r>
          </a:p>
        </p:txBody>
      </p:sp>
      <p:sp>
        <p:nvSpPr>
          <p:cNvPr id="5" name="TextBox 4"/>
          <p:cNvSpPr txBox="1"/>
          <p:nvPr/>
        </p:nvSpPr>
        <p:spPr>
          <a:xfrm>
            <a:off x="10332720" y="502920"/>
            <a:ext cx="1371600" cy="365760"/>
          </a:xfrm>
          <a:prstGeom prst="rect">
            <a:avLst/>
          </a:prstGeom>
          <a:noFill/>
        </p:spPr>
        <p:txBody>
          <a:bodyPr wrap="square" anchor="t" lIns="0" rIns="0" tIns="0" bIns="0">
            <a:spAutoFit/>
          </a:bodyPr>
          <a:lstStyle/>
          <a:p>
            <a:pPr algn="r"/>
            <a:r>
              <a:rPr sz="1300" b="0">
                <a:solidFill>
                  <a:srgbClr val="2B120A"/>
                </a:solidFill>
                <a:latin typeface="Poppins"/>
              </a:rPr>
              <a:t>4 / 5</a:t>
            </a:r>
          </a:p>
        </p:txBody>
      </p:sp>
      <p:sp>
        <p:nvSpPr>
          <p:cNvPr id="6" name="TextBox 5"/>
          <p:cNvSpPr txBox="1"/>
          <p:nvPr/>
        </p:nvSpPr>
        <p:spPr>
          <a:xfrm>
            <a:off x="731520" y="1965960"/>
            <a:ext cx="4754880" cy="3291840"/>
          </a:xfrm>
          <a:prstGeom prst="rect">
            <a:avLst/>
          </a:prstGeom>
          <a:noFill/>
        </p:spPr>
        <p:txBody>
          <a:bodyPr wrap="square" anchor="t" lIns="0" rIns="0" tIns="0" bIns="0">
            <a:spAutoFit/>
          </a:bodyPr>
          <a:lstStyle/>
          <a:p>
            <a:pPr algn="l">
              <a:spcAft>
                <a:spcPts val="1200"/>
              </a:spcAft>
            </a:pPr>
            <a:r>
              <a:rPr sz="1600" b="1">
                <a:solidFill>
                  <a:srgbClr val="2B120A"/>
                </a:solidFill>
                <a:latin typeface="Poppins"/>
              </a:rPr>
              <a:t>Hashed passwords </a:t>
            </a:r>
            <a:r>
              <a:rPr sz="1600" b="0">
                <a:solidFill>
                  <a:srgbClr val="2B120A"/>
                </a:solidFill>
                <a:latin typeface="Poppins"/>
              </a:rPr>
              <a:t>(Werkzeug): never stored in clear.</a:t>
            </a:r>
          </a:p>
          <a:p>
            <a:pPr algn="l">
              <a:spcAft>
                <a:spcPts val="1200"/>
              </a:spcAft>
            </a:pPr>
            <a:r>
              <a:rPr sz="1600" b="1">
                <a:solidFill>
                  <a:srgbClr val="2B120A"/>
                </a:solidFill>
                <a:latin typeface="Poppins"/>
              </a:rPr>
              <a:t>Signed token </a:t>
            </a:r>
            <a:r>
              <a:rPr sz="1600" b="0">
                <a:solidFill>
                  <a:srgbClr val="2B120A"/>
                </a:solidFill>
                <a:latin typeface="Poppins"/>
              </a:rPr>
              <a:t>(itsdangerous, 24 h): like a festival wristband, impossible to fake without the server's secret key.</a:t>
            </a:r>
          </a:p>
          <a:p>
            <a:pPr algn="l">
              <a:spcAft>
                <a:spcPts val="1200"/>
              </a:spcAft>
            </a:pPr>
            <a:r>
              <a:rPr sz="1600" b="1">
                <a:solidFill>
                  <a:srgbClr val="2B120A"/>
                </a:solidFill>
                <a:latin typeface="Poppins"/>
              </a:rPr>
              <a:t>3 roles → 3 decorators: </a:t>
            </a:r>
            <a:r>
              <a:rPr sz="1600" b="0">
                <a:solidFill>
                  <a:srgbClr val="2B120A"/>
                </a:solidFill>
                <a:latin typeface="Poppins"/>
              </a:rPr>
              <a:t>one line above a route protects it.</a:t>
            </a:r>
          </a:p>
          <a:p>
            <a:pPr algn="l">
              <a:spcAft>
                <a:spcPts val="1200"/>
              </a:spcAft>
            </a:pPr>
            <a:r>
              <a:rPr sz="1600" b="1">
                <a:solidFill>
                  <a:srgbClr val="2B120A"/>
                </a:solidFill>
                <a:latin typeface="Poppins"/>
              </a:rPr>
              <a:t>Employers </a:t>
            </a:r>
            <a:r>
              <a:rPr sz="1600" b="0">
                <a:solidFill>
                  <a:srgbClr val="2B120A"/>
                </a:solidFill>
                <a:latin typeface="Poppins"/>
              </a:rPr>
              <a:t>only manage their own company's ads: the company comes from the token, not the request.</a:t>
            </a:r>
          </a:p>
        </p:txBody>
      </p:sp>
      <p:sp>
        <p:nvSpPr>
          <p:cNvPr id="7" name="Rounded Rectangle 6"/>
          <p:cNvSpPr/>
          <p:nvPr/>
        </p:nvSpPr>
        <p:spPr>
          <a:xfrm>
            <a:off x="731520" y="5577840"/>
            <a:ext cx="2194560" cy="384048"/>
          </a:xfrm>
          <a:prstGeom prst="roundRect">
            <a:avLst>
              <a:gd name="adj" fmla="val 50000"/>
            </a:avLst>
          </a:prstGeom>
          <a:solidFill>
            <a:srgbClr val="BCD5E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2B120A"/>
                </a:solidFill>
                <a:latin typeface="Poppins"/>
              </a:rPr>
              <a:t>401 · log in first</a:t>
            </a:r>
          </a:p>
        </p:txBody>
      </p:sp>
      <p:sp>
        <p:nvSpPr>
          <p:cNvPr id="8" name="Rounded Rectangle 7"/>
          <p:cNvSpPr/>
          <p:nvPr/>
        </p:nvSpPr>
        <p:spPr>
          <a:xfrm>
            <a:off x="3063240" y="5577840"/>
            <a:ext cx="2423160" cy="384048"/>
          </a:xfrm>
          <a:prstGeom prst="roundRect">
            <a:avLst>
              <a:gd name="adj" fmla="val 50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7EDC8"/>
                </a:solidFill>
                <a:latin typeface="Poppins"/>
              </a:rPr>
              <a:t>403 · not allowed</a:t>
            </a:r>
          </a:p>
        </p:txBody>
      </p:sp>
      <p:sp>
        <p:nvSpPr>
          <p:cNvPr id="9" name="Rounded Rectangle 8"/>
          <p:cNvSpPr/>
          <p:nvPr/>
        </p:nvSpPr>
        <p:spPr>
          <a:xfrm>
            <a:off x="5943600" y="1920240"/>
            <a:ext cx="5806440" cy="4297680"/>
          </a:xfrm>
          <a:prstGeom prst="roundRect">
            <a:avLst>
              <a:gd name="adj" fmla="val 5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148840"/>
            <a:ext cx="5257800" cy="3840480"/>
          </a:xfrm>
          <a:prstGeom prst="rect">
            <a:avLst/>
          </a:prstGeom>
          <a:noFill/>
        </p:spPr>
        <p:txBody>
          <a:bodyPr wrap="square" anchor="t" lIns="0" rIns="0" tIns="0" bIns="0">
            <a:spAutoFit/>
          </a:bodyPr>
          <a:lstStyle/>
          <a:p>
            <a:pPr algn="l"/>
            <a:r>
              <a:rPr sz="1300" b="0">
                <a:solidFill>
                  <a:srgbClr val="F7EDC8"/>
                </a:solidFill>
                <a:latin typeface="Roboto Mono"/>
              </a:rPr>
              <a:t>def employer_required(route_function):</a:t>
            </a:r>
          </a:p>
          <a:p>
            <a:pPr algn="l"/>
            <a:r>
              <a:rPr sz="1300" b="0">
                <a:solidFill>
                  <a:srgbClr val="F7EDC8"/>
                </a:solidFill>
                <a:latin typeface="Roboto Mono"/>
              </a:rPr>
              <a:t>    @wraps(route_function)</a:t>
            </a:r>
          </a:p>
          <a:p>
            <a:pPr algn="l"/>
            <a:r>
              <a:rPr sz="1300" b="0">
                <a:solidFill>
                  <a:srgbClr val="F7EDC8"/>
                </a:solidFill>
                <a:latin typeface="Roboto Mono"/>
              </a:rPr>
              <a:t>    def wrapper(*args, **kwargs):</a:t>
            </a:r>
          </a:p>
          <a:p>
            <a:pPr algn="l"/>
            <a:r>
              <a:rPr sz="1300" b="0">
                <a:solidFill>
                  <a:srgbClr val="F7EDC8"/>
                </a:solidFill>
                <a:latin typeface="Roboto Mono"/>
              </a:rPr>
              <a:t>        user = get_current_user()</a:t>
            </a:r>
          </a:p>
          <a:p>
            <a:pPr algn="l"/>
            <a:r>
              <a:rPr sz="1300" b="0">
                <a:solidFill>
                  <a:srgbClr val="F7EDC8"/>
                </a:solidFill>
                <a:latin typeface="Roboto Mono"/>
              </a:rPr>
              <a:t>        if user is None:</a:t>
            </a:r>
          </a:p>
          <a:p>
            <a:pPr algn="l"/>
            <a:r>
              <a:rPr sz="1300" b="0">
                <a:solidFill>
                  <a:srgbClr val="F2C14E"/>
                </a:solidFill>
                <a:latin typeface="Roboto Mono"/>
              </a:rPr>
              <a:t>            return jsonify({...}), 401</a:t>
            </a:r>
          </a:p>
          <a:p>
            <a:pPr algn="l"/>
            <a:r>
              <a:rPr sz="1300" b="0">
                <a:solidFill>
                  <a:srgbClr val="F7EDC8"/>
                </a:solidFill>
                <a:latin typeface="Roboto Mono"/>
              </a:rPr>
              <a:t>        if user["role"] not in ("admin", "employer"):</a:t>
            </a:r>
          </a:p>
          <a:p>
            <a:pPr algn="l"/>
            <a:r>
              <a:rPr sz="1300" b="0">
                <a:solidFill>
                  <a:srgbClr val="F2C14E"/>
                </a:solidFill>
                <a:latin typeface="Roboto Mono"/>
              </a:rPr>
              <a:t>            return jsonify({...}), 403</a:t>
            </a:r>
          </a:p>
          <a:p>
            <a:pPr algn="l"/>
            <a:r>
              <a:rPr sz="1300" b="0">
                <a:solidFill>
                  <a:srgbClr val="F7EDC8"/>
                </a:solidFill>
                <a:latin typeface="Roboto Mono"/>
              </a:rPr>
              <a:t>        g.user = user</a:t>
            </a:r>
          </a:p>
          <a:p>
            <a:pPr algn="l"/>
            <a:r>
              <a:rPr sz="1300" b="0">
                <a:solidFill>
                  <a:srgbClr val="F7EDC8"/>
                </a:solidFill>
                <a:latin typeface="Roboto Mono"/>
              </a:rPr>
              <a:t>        return route_function(*args, **kwargs)</a:t>
            </a:r>
          </a:p>
          <a:p>
            <a:pPr algn="l"/>
            <a:r>
              <a:rPr sz="1300" b="0">
                <a:solidFill>
                  <a:srgbClr val="F7EDC8"/>
                </a:solidFill>
                <a:latin typeface="Roboto Mono"/>
              </a:rPr>
              <a:t>    return wrapper</a:t>
            </a:r>
          </a:p>
          <a:p>
            <a:pPr algn="l"/>
            <a:r>
              <a:rPr sz="1300" b="0">
                <a:solidFill>
                  <a:srgbClr val="F7EDC8"/>
                </a:solidFill>
                <a:latin typeface="Roboto Mono"/>
              </a:rPr>
              <a:t/>
            </a:r>
          </a:p>
          <a:p>
            <a:pPr algn="l"/>
            <a:r>
              <a:rPr sz="1300" b="0">
                <a:solidFill>
                  <a:srgbClr val="BCD5E7"/>
                </a:solidFill>
                <a:latin typeface="Roboto Mono"/>
              </a:rPr>
              <a:t>@app.route("/api/advertisements", methods=["POST"])</a:t>
            </a:r>
          </a:p>
          <a:p>
            <a:pPr algn="l"/>
            <a:r>
              <a:rPr sz="1300" b="0">
                <a:solidFill>
                  <a:srgbClr val="F2C14E"/>
                </a:solidFill>
                <a:latin typeface="Roboto Mono"/>
              </a:rPr>
              <a:t>@employer_required</a:t>
            </a:r>
          </a:p>
          <a:p>
            <a:pPr algn="l"/>
            <a:r>
              <a:rPr sz="1300" b="0">
                <a:solidFill>
                  <a:srgbClr val="F7EDC8"/>
                </a:solidFill>
                <a:latin typeface="Roboto Mono"/>
              </a:rPr>
              <a:t>def create_advertisement():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EDC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8229600" cy="365760"/>
          </a:xfrm>
          <a:prstGeom prst="rect">
            <a:avLst/>
          </a:prstGeom>
          <a:noFill/>
        </p:spPr>
        <p:txBody>
          <a:bodyPr wrap="square" anchor="t" lIns="0" rIns="0" tIns="0" bIns="0">
            <a:spAutoFit/>
          </a:bodyPr>
          <a:lstStyle/>
          <a:p>
            <a:pPr algn="l"/>
            <a:r>
              <a:rPr sz="1300" b="1">
                <a:solidFill>
                  <a:srgbClr val="B4301A"/>
                </a:solidFill>
                <a:latin typeface="Poppins"/>
              </a:rPr>
              <a:t>PROBLEMS I SOLVED</a:t>
            </a:r>
          </a:p>
        </p:txBody>
      </p:sp>
      <p:sp>
        <p:nvSpPr>
          <p:cNvPr id="4" name="TextBox 3"/>
          <p:cNvSpPr txBox="1"/>
          <p:nvPr/>
        </p:nvSpPr>
        <p:spPr>
          <a:xfrm>
            <a:off x="731520" y="777240"/>
            <a:ext cx="10515600" cy="914400"/>
          </a:xfrm>
          <a:prstGeom prst="rect">
            <a:avLst/>
          </a:prstGeom>
          <a:noFill/>
        </p:spPr>
        <p:txBody>
          <a:bodyPr wrap="square" anchor="t" lIns="0" rIns="0" tIns="0" bIns="0">
            <a:spAutoFit/>
          </a:bodyPr>
          <a:lstStyle/>
          <a:p>
            <a:pPr algn="l"/>
            <a:r>
              <a:rPr sz="4000" b="1">
                <a:solidFill>
                  <a:srgbClr val="2B120A"/>
                </a:solidFill>
                <a:latin typeface="Poppins"/>
              </a:rPr>
              <a:t>What went wrong, and how I fixed it</a:t>
            </a:r>
          </a:p>
        </p:txBody>
      </p:sp>
      <p:sp>
        <p:nvSpPr>
          <p:cNvPr id="5" name="TextBox 4"/>
          <p:cNvSpPr txBox="1"/>
          <p:nvPr/>
        </p:nvSpPr>
        <p:spPr>
          <a:xfrm>
            <a:off x="10332720" y="502920"/>
            <a:ext cx="1371600" cy="365760"/>
          </a:xfrm>
          <a:prstGeom prst="rect">
            <a:avLst/>
          </a:prstGeom>
          <a:noFill/>
        </p:spPr>
        <p:txBody>
          <a:bodyPr wrap="square" anchor="t" lIns="0" rIns="0" tIns="0" bIns="0">
            <a:spAutoFit/>
          </a:bodyPr>
          <a:lstStyle/>
          <a:p>
            <a:pPr algn="r"/>
            <a:r>
              <a:rPr sz="1300" b="0">
                <a:solidFill>
                  <a:srgbClr val="2B120A"/>
                </a:solidFill>
                <a:latin typeface="Poppins"/>
              </a:rPr>
              <a:t>5 / 5</a:t>
            </a:r>
          </a:p>
        </p:txBody>
      </p:sp>
      <p:sp>
        <p:nvSpPr>
          <p:cNvPr id="6" name="Rounded Rectangle 5"/>
          <p:cNvSpPr/>
          <p:nvPr/>
        </p:nvSpPr>
        <p:spPr>
          <a:xfrm>
            <a:off x="731520" y="1920240"/>
            <a:ext cx="3520440" cy="3246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148840"/>
            <a:ext cx="548640" cy="54864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1</a:t>
            </a:r>
          </a:p>
        </p:txBody>
      </p:sp>
      <p:sp>
        <p:nvSpPr>
          <p:cNvPr id="8" name="TextBox 7"/>
          <p:cNvSpPr txBox="1"/>
          <p:nvPr/>
        </p:nvSpPr>
        <p:spPr>
          <a:xfrm>
            <a:off x="1005840" y="2834640"/>
            <a:ext cx="3017520" cy="822960"/>
          </a:xfrm>
          <a:prstGeom prst="rect">
            <a:avLst/>
          </a:prstGeom>
          <a:noFill/>
        </p:spPr>
        <p:txBody>
          <a:bodyPr wrap="square" anchor="t" lIns="0" rIns="0" tIns="0" bIns="0">
            <a:spAutoFit/>
          </a:bodyPr>
          <a:lstStyle/>
          <a:p>
            <a:pPr algn="l"/>
            <a:r>
              <a:rPr sz="1600" b="1">
                <a:solidFill>
                  <a:srgbClr val="2B120A"/>
                </a:solidFill>
                <a:latin typeface="Poppins"/>
              </a:rPr>
              <a:t>“Wrong password”… but the API was never called</a:t>
            </a:r>
          </a:p>
        </p:txBody>
      </p:sp>
      <p:sp>
        <p:nvSpPr>
          <p:cNvPr id="9" name="TextBox 8"/>
          <p:cNvSpPr txBox="1"/>
          <p:nvPr/>
        </p:nvSpPr>
        <p:spPr>
          <a:xfrm>
            <a:off x="1005840" y="3657600"/>
            <a:ext cx="3017520" cy="1097280"/>
          </a:xfrm>
          <a:prstGeom prst="rect">
            <a:avLst/>
          </a:prstGeom>
          <a:noFill/>
        </p:spPr>
        <p:txBody>
          <a:bodyPr wrap="square" anchor="t" lIns="0" rIns="0" tIns="0" bIns="0">
            <a:spAutoFit/>
          </a:bodyPr>
          <a:lstStyle/>
          <a:p>
            <a:pPr algn="l"/>
            <a:r>
              <a:rPr sz="1250" b="0">
                <a:solidFill>
                  <a:srgbClr val="2B120A"/>
                </a:solidFill>
                <a:latin typeface="Poppins"/>
              </a:rPr>
              <a:t>Missing .env in the front-end → API address undefined. Tested the backend alone in Thunder Client to prove it.</a:t>
            </a:r>
          </a:p>
        </p:txBody>
      </p:sp>
      <p:sp>
        <p:nvSpPr>
          <p:cNvPr id="10" name="TextBox 9"/>
          <p:cNvSpPr txBox="1"/>
          <p:nvPr/>
        </p:nvSpPr>
        <p:spPr>
          <a:xfrm>
            <a:off x="1005840" y="4709160"/>
            <a:ext cx="3017520" cy="365760"/>
          </a:xfrm>
          <a:prstGeom prst="rect">
            <a:avLst/>
          </a:prstGeom>
          <a:noFill/>
        </p:spPr>
        <p:txBody>
          <a:bodyPr wrap="square" anchor="t" lIns="0" rIns="0" tIns="0" bIns="0">
            <a:spAutoFit/>
          </a:bodyPr>
          <a:lstStyle/>
          <a:p>
            <a:pPr algn="l"/>
            <a:r>
              <a:rPr sz="1250" b="1">
                <a:solidFill>
                  <a:srgbClr val="B4301A"/>
                </a:solidFill>
                <a:latin typeface="Poppins"/>
              </a:rPr>
              <a:t>Test each part separately.</a:t>
            </a:r>
          </a:p>
        </p:txBody>
      </p:sp>
      <p:sp>
        <p:nvSpPr>
          <p:cNvPr id="11" name="Rounded Rectangle 10"/>
          <p:cNvSpPr/>
          <p:nvPr/>
        </p:nvSpPr>
        <p:spPr>
          <a:xfrm>
            <a:off x="4480559" y="1920240"/>
            <a:ext cx="3520440" cy="3246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79" y="2148840"/>
            <a:ext cx="548640" cy="54864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2</a:t>
            </a:r>
          </a:p>
        </p:txBody>
      </p:sp>
      <p:sp>
        <p:nvSpPr>
          <p:cNvPr id="13" name="TextBox 12"/>
          <p:cNvSpPr txBox="1"/>
          <p:nvPr/>
        </p:nvSpPr>
        <p:spPr>
          <a:xfrm>
            <a:off x="4754879" y="2834640"/>
            <a:ext cx="3017520" cy="822960"/>
          </a:xfrm>
          <a:prstGeom prst="rect">
            <a:avLst/>
          </a:prstGeom>
          <a:noFill/>
        </p:spPr>
        <p:txBody>
          <a:bodyPr wrap="square" anchor="t" lIns="0" rIns="0" tIns="0" bIns="0">
            <a:spAutoFit/>
          </a:bodyPr>
          <a:lstStyle/>
          <a:p>
            <a:pPr algn="l"/>
            <a:r>
              <a:rPr sz="1600" b="1">
                <a:solidFill>
                  <a:srgbClr val="2B120A"/>
                </a:solidFill>
                <a:latin typeface="Poppins"/>
              </a:rPr>
              <a:t>Users could apply as someone else</a:t>
            </a:r>
          </a:p>
        </p:txBody>
      </p:sp>
      <p:sp>
        <p:nvSpPr>
          <p:cNvPr id="14" name="TextBox 13"/>
          <p:cNvSpPr txBox="1"/>
          <p:nvPr/>
        </p:nvSpPr>
        <p:spPr>
          <a:xfrm>
            <a:off x="4754879" y="3657600"/>
            <a:ext cx="3017520" cy="1097280"/>
          </a:xfrm>
          <a:prstGeom prst="rect">
            <a:avLst/>
          </a:prstGeom>
          <a:noFill/>
        </p:spPr>
        <p:txBody>
          <a:bodyPr wrap="square" anchor="t" lIns="0" rIns="0" tIns="0" bIns="0">
            <a:spAutoFit/>
          </a:bodyPr>
          <a:lstStyle/>
          <a:p>
            <a:pPr algn="l"/>
            <a:r>
              <a:rPr sz="1250" b="0">
                <a:solidFill>
                  <a:srgbClr val="2B120A"/>
                </a:solidFill>
                <a:latin typeface="Poppins"/>
              </a:rPr>
              <a:t>The front-end sent person_id in the request body. Now the backend takes the id from the token.</a:t>
            </a:r>
          </a:p>
        </p:txBody>
      </p:sp>
      <p:sp>
        <p:nvSpPr>
          <p:cNvPr id="15" name="TextBox 14"/>
          <p:cNvSpPr txBox="1"/>
          <p:nvPr/>
        </p:nvSpPr>
        <p:spPr>
          <a:xfrm>
            <a:off x="4754879" y="4709160"/>
            <a:ext cx="3017520" cy="365760"/>
          </a:xfrm>
          <a:prstGeom prst="rect">
            <a:avLst/>
          </a:prstGeom>
          <a:noFill/>
        </p:spPr>
        <p:txBody>
          <a:bodyPr wrap="square" anchor="t" lIns="0" rIns="0" tIns="0" bIns="0">
            <a:spAutoFit/>
          </a:bodyPr>
          <a:lstStyle/>
          <a:p>
            <a:pPr algn="l"/>
            <a:r>
              <a:rPr sz="1250" b="1">
                <a:solidFill>
                  <a:srgbClr val="B4301A"/>
                </a:solidFill>
                <a:latin typeface="Poppins"/>
              </a:rPr>
              <a:t>Identity comes from the token.</a:t>
            </a:r>
          </a:p>
        </p:txBody>
      </p:sp>
      <p:sp>
        <p:nvSpPr>
          <p:cNvPr id="16" name="Rounded Rectangle 15"/>
          <p:cNvSpPr/>
          <p:nvPr/>
        </p:nvSpPr>
        <p:spPr>
          <a:xfrm>
            <a:off x="8229600" y="1920240"/>
            <a:ext cx="3520440" cy="3246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03920" y="2148840"/>
            <a:ext cx="548640" cy="548640"/>
          </a:xfrm>
          <a:prstGeom prst="roundRect">
            <a:avLst>
              <a:gd name="adj" fmla="val 12000"/>
            </a:avLst>
          </a:prstGeom>
          <a:solidFill>
            <a:srgbClr val="B430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7EDC8"/>
                </a:solidFill>
                <a:latin typeface="Poppins"/>
              </a:rPr>
              <a:t>3</a:t>
            </a:r>
          </a:p>
        </p:txBody>
      </p:sp>
      <p:sp>
        <p:nvSpPr>
          <p:cNvPr id="18" name="TextBox 17"/>
          <p:cNvSpPr txBox="1"/>
          <p:nvPr/>
        </p:nvSpPr>
        <p:spPr>
          <a:xfrm>
            <a:off x="8503920" y="2834640"/>
            <a:ext cx="3017520" cy="822960"/>
          </a:xfrm>
          <a:prstGeom prst="rect">
            <a:avLst/>
          </a:prstGeom>
          <a:noFill/>
        </p:spPr>
        <p:txBody>
          <a:bodyPr wrap="square" anchor="t" lIns="0" rIns="0" tIns="0" bIns="0">
            <a:spAutoFit/>
          </a:bodyPr>
          <a:lstStyle/>
          <a:p>
            <a:pPr algn="l"/>
            <a:r>
              <a:rPr sz="1600" b="1">
                <a:solidFill>
                  <a:srgbClr val="2B120A"/>
                </a:solidFill>
                <a:latin typeface="Poppins"/>
              </a:rPr>
              <a:t>Company + employer at sign-up</a:t>
            </a:r>
          </a:p>
        </p:txBody>
      </p:sp>
      <p:sp>
        <p:nvSpPr>
          <p:cNvPr id="19" name="TextBox 18"/>
          <p:cNvSpPr txBox="1"/>
          <p:nvPr/>
        </p:nvSpPr>
        <p:spPr>
          <a:xfrm>
            <a:off x="8503920" y="3657600"/>
            <a:ext cx="3017520" cy="1097280"/>
          </a:xfrm>
          <a:prstGeom prst="rect">
            <a:avLst/>
          </a:prstGeom>
          <a:noFill/>
        </p:spPr>
        <p:txBody>
          <a:bodyPr wrap="square" anchor="t" lIns="0" rIns="0" tIns="0" bIns="0">
            <a:spAutoFit/>
          </a:bodyPr>
          <a:lstStyle/>
          <a:p>
            <a:pPr algn="l"/>
            <a:r>
              <a:rPr sz="1250" b="0">
                <a:solidFill>
                  <a:srgbClr val="2B120A"/>
                </a:solidFill>
                <a:latin typeface="Poppins"/>
              </a:rPr>
              <a:t>Insert the company, get its id, insert the person, one commit at the end.</a:t>
            </a:r>
          </a:p>
        </p:txBody>
      </p:sp>
      <p:sp>
        <p:nvSpPr>
          <p:cNvPr id="20" name="TextBox 19"/>
          <p:cNvSpPr txBox="1"/>
          <p:nvPr/>
        </p:nvSpPr>
        <p:spPr>
          <a:xfrm>
            <a:off x="8503920" y="4709160"/>
            <a:ext cx="3017520" cy="365760"/>
          </a:xfrm>
          <a:prstGeom prst="rect">
            <a:avLst/>
          </a:prstGeom>
          <a:noFill/>
        </p:spPr>
        <p:txBody>
          <a:bodyPr wrap="square" anchor="t" lIns="0" rIns="0" tIns="0" bIns="0">
            <a:spAutoFit/>
          </a:bodyPr>
          <a:lstStyle/>
          <a:p>
            <a:pPr algn="l"/>
            <a:r>
              <a:rPr sz="1250" b="1">
                <a:solidFill>
                  <a:srgbClr val="B4301A"/>
                </a:solidFill>
                <a:latin typeface="Poppins"/>
              </a:rPr>
              <a:t>A transaction: both saved, or neither.</a:t>
            </a:r>
          </a:p>
        </p:txBody>
      </p:sp>
      <p:sp>
        <p:nvSpPr>
          <p:cNvPr id="21" name="Rounded Rectangle 20"/>
          <p:cNvSpPr/>
          <p:nvPr/>
        </p:nvSpPr>
        <p:spPr>
          <a:xfrm>
            <a:off x="731520" y="5440680"/>
            <a:ext cx="11018520" cy="868680"/>
          </a:xfrm>
          <a:prstGeom prst="roundRect">
            <a:avLst>
              <a:gd name="adj" fmla="val 12000"/>
            </a:avLst>
          </a:prstGeom>
          <a:solidFill>
            <a:srgbClr val="2B1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440680"/>
            <a:ext cx="10515600" cy="868680"/>
          </a:xfrm>
          <a:prstGeom prst="rect">
            <a:avLst/>
          </a:prstGeom>
          <a:noFill/>
        </p:spPr>
        <p:txBody>
          <a:bodyPr wrap="square" anchor="ctr" lIns="0" rIns="0" tIns="0" bIns="0">
            <a:spAutoFit/>
          </a:bodyPr>
          <a:lstStyle/>
          <a:p>
            <a:pPr algn="ctr"/>
            <a:r>
              <a:rPr sz="1700" b="1">
                <a:solidFill>
                  <a:srgbClr val="F7EDC8"/>
                </a:solidFill>
                <a:latin typeface="Poppins"/>
              </a:rPr>
              <a:t>REST API  ·  29 routes  ·  5 linked tables  ·  hashed passwords  ·  token login  ·  3 permission levels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